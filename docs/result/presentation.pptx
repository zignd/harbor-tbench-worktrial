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Candidates</c:v>
                </c:pt>
              </c:strCache>
            </c:strRef>
          </c:tx>
          <c:spPr>
            <a:solidFill>
              <a:srgbClr val="2A9D8F"/>
            </a:solidFill>
            <a:effectLst/>
          </c:spPr>
          <c:invertIfNegative val="0"/>
          <c:dLbls>
            <c:numFmt formatCode="#,##0" sourceLinked="0"/>
            <c:txPr>
              <a:bodyPr/>
              <a:lstStyle/>
              <a:p>
                <a:pPr>
                  <a:defRPr b="0" i="0" strike="noStrike" sz="1200" u="none">
                    <a:solidFill>
                      <a:srgbClr val="0F1B2A"/>
                    </a:solidFill>
                    <a:latin typeface="Calibri"/>
                  </a:defRPr>
                </a:pPr>
              </a:p>
            </c:txPr>
            <c:showLegendKey val="0"/>
            <c:showVal val="1"/>
            <c:showCatName val="0"/>
            <c:showSerName val="0"/>
            <c:showPercent val="0"/>
            <c:showBubbleSize val="0"/>
            <c:showLeaderLines val="0"/>
          </c:dLbls>
          <c:dPt>
            <c:idx val="0"/>
            <c:invertIfNegative val="0"/>
            <c:bubble3D val="0"/>
            <c:spPr>
              <a:solidFill>
                <a:srgbClr val="2A9D8F"/>
              </a:solidFill>
              <a:effectLst/>
            </c:spPr>
          </c:dPt>
          <c:dPt>
            <c:idx val="1"/>
            <c:invertIfNegative val="0"/>
            <c:bubble3D val="0"/>
            <c:spPr>
              <a:solidFill>
                <a:srgbClr val="E9C46A"/>
              </a:solidFill>
              <a:effectLst/>
            </c:spPr>
          </c:dPt>
          <c:dPt>
            <c:idx val="2"/>
            <c:invertIfNegative val="0"/>
            <c:bubble3D val="0"/>
            <c:spPr>
              <a:solidFill>
                <a:srgbClr val="C0392B"/>
              </a:solidFill>
              <a:effectLst/>
            </c:spPr>
          </c:dPt>
          <c:dPt>
            <c:idx val="3"/>
            <c:invertIfNegative val="0"/>
            <c:bubble3D val="0"/>
            <c:spPr>
              <a:solidFill>
                <a:srgbClr val="7A8B99"/>
              </a:solidFill>
              <a:effectLst/>
            </c:spPr>
          </c:dPt>
          <c:cat>
            <c:multiLvlStrRef>
              <c:f>Sheet1!$A$2:$A$5</c:f>
              <c:multiLvlStrCache>
                <c:ptCount val="4"/>
                <c:lvl>
                  <c:pt idx="0">
                    <c:v>Learnable (label)</c:v>
                  </c:pt>
                  <c:pt idx="1">
                    <c:v>Too easy</c:v>
                  </c:pt>
                  <c:pt idx="2">
                    <c:v>Too hard</c:v>
                  </c:pt>
                  <c:pt idx="3">
                    <c:v>Invalid</c:v>
                  </c:pt>
                </c:lvl>
              </c:multiLvlStrCache>
            </c:multiLvlStrRef>
          </c:cat>
          <c:val>
            <c:numRef>
              <c:f>Sheet1!$B$2:$B$5</c:f>
              <c:numCache>
                <c:formatCode>General</c:formatCode>
                <c:ptCount val="4"/>
                <c:pt idx="0">
                  <c:v>3</c:v>
                </c:pt>
                <c:pt idx="1">
                  <c:v>1</c:v>
                </c:pt>
                <c:pt idx="2">
                  <c:v>6</c:v>
                </c:pt>
                <c:pt idx="3">
                  <c:v>7</c:v>
                </c:pt>
              </c:numCache>
            </c:numRef>
          </c:val>
        </c:ser>
        <c:dLbls>
          <c:numFmt formatCode="#,##0" sourceLinked="0"/>
          <c:txPr>
            <a:bodyPr/>
            <a:lstStyle/>
            <a:p>
              <a:pPr>
                <a:defRPr b="0" i="0" strike="noStrike" sz="1200" u="none">
                  <a:solidFill>
                    <a:srgbClr val="0F1B2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F1B2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AF1F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A6B7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claim: we built a pipeline that authors Terminal-Bench tasks and keeps only the learnable ones. Then show what the audit actually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README's core deliverable is the in-band fraction with valid failures. Point at boxes 1-3: that is the only region we 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Cheap gates first; calibration is the only real difficulty signal. Failures feed repair rounds.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trial fixed Sonnet+Opus; the user opened it. We label and separate every model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careful: these are historical candidate records, not approvals. The ledger labels THREE candidates learnable, but re-deriving the distribution under the approval standard gives only TWO: one label rests on a curtailed 1/3, which is not a full 1-3/5 statement, and one full record ends in pipeline status failed. Neither is the approved task, which needed a repair and a second independent batch. After the audit ONE task is approved. Slide 7 has the audited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re-audited my own earlier success claims and found they did not hold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rules are enforced in code and unit-tested after the audit. Two independent batches: 4/5 then 3/5. Pre-registered rule required both an in-band batch and a pooled rate in [0.2, 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and C are solid; B is a measured negative (13 hash-bound tuning experiments, none reached the band); D is partial, and note the rubric-overfitting caveat — it passes 3 of our packages and 0 of 6 human-written reference tasks, so never quote it as general task 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Wall-clock time is reported separately from summed stage time. Do not claim the ledger and the key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how I would scale generation, harden the novelty check, and define learnable per solver.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ideas carry the architecture. First, money only moves after the cheap gates pass, which is why one calibration trial costs about nine cents. Second, difficulty is built into the verifier - hidden-seed inputs at verify time, multi-stage dependent work - and never into a stated wall-clock budget, because that failure mode is environment-dependent and the rubric rejects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the band being arbitrary: the 1-3 of 5 rule is a wide window, and the response is the pre-registered pooling rule plus two independent batches, not a claim that 3/5 is a precise measurement. If asked about author strength: the study is the honest negative result - no cell produced an in-band task, so 'use a better author' is not supported by our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A"/>
        </a:solidFill>
      </p:bgPr>
    </p:bg>
    <p:spTree>
      <p:nvGrpSpPr>
        <p:cNvPr id="1" name=""/>
        <p:cNvGrpSpPr/>
        <p:nvPr/>
      </p:nvGrpSpPr>
      <p:grpSpPr>
        <a:xfrm>
          <a:off x="0" y="0"/>
          <a:ext cx="0" cy="0"/>
          <a:chOff x="0" y="0"/>
          <a:chExt cx="0" cy="0"/>
        </a:xfrm>
      </p:grpSpPr>
      <p:sp>
        <p:nvSpPr>
          <p:cNvPr id="2" name="Shape 0"/>
          <p:cNvSpPr/>
          <p:nvPr/>
        </p:nvSpPr>
        <p:spPr>
          <a:xfrm>
            <a:off x="457200" y="1417320"/>
            <a:ext cx="164592" cy="1234440"/>
          </a:xfrm>
          <a:prstGeom prst="roundRect">
            <a:avLst>
              <a:gd name="adj" fmla="val 44444"/>
            </a:avLst>
          </a:prstGeom>
          <a:solidFill>
            <a:srgbClr val="2A9D8F"/>
          </a:solidFill>
          <a:ln w="12700">
            <a:solidFill>
              <a:srgbClr val="2A9D8F"/>
            </a:solidFill>
            <a:prstDash val="solid"/>
          </a:ln>
        </p:spPr>
      </p:sp>
      <p:sp>
        <p:nvSpPr>
          <p:cNvPr id="3" name="Text 1"/>
          <p:cNvSpPr txBox="1"/>
          <p:nvPr/>
        </p:nvSpPr>
        <p:spPr>
          <a:xfrm>
            <a:off x="822960" y="1325880"/>
            <a:ext cx="7772400" cy="137160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Generating Terminal-Bench tasks that are learnable</a:t>
            </a:r>
            <a:endParaRPr lang="en-US" sz="3200" dirty="0"/>
          </a:p>
        </p:txBody>
      </p:sp>
      <p:sp>
        <p:nvSpPr>
          <p:cNvPr id="4" name="Text 2"/>
          <p:cNvSpPr txBox="1"/>
          <p:nvPr/>
        </p:nvSpPr>
        <p:spPr>
          <a:xfrm>
            <a:off x="822960" y="2788920"/>
            <a:ext cx="7498080" cy="64008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A pipeline that authors, gates and calibrates hard tasks — with exact-package evidence</a:t>
            </a:r>
            <a:endParaRPr lang="en-US" sz="1600" dirty="0"/>
          </a:p>
        </p:txBody>
      </p:sp>
      <p:sp>
        <p:nvSpPr>
          <p:cNvPr id="5" name="Text 3"/>
          <p:cNvSpPr txBox="1"/>
          <p:nvPr/>
        </p:nvSpPr>
        <p:spPr>
          <a:xfrm>
            <a:off x="822960" y="4434840"/>
            <a:ext cx="7498080" cy="320040"/>
          </a:xfrm>
          <a:prstGeom prst="rect">
            <a:avLst/>
          </a:prstGeom>
          <a:noFill/>
          <a:ln/>
        </p:spPr>
        <p:txBody>
          <a:bodyPr wrap="square" lIns="0" tIns="0" rIns="0" bIns="0" rtlCol="0" anchor="ctr"/>
          <a:lstStyle/>
          <a:p>
            <a:pPr indent="0" marL="0">
              <a:buNone/>
            </a:pPr>
            <a:r>
              <a:rPr lang="en-US" sz="1200" dirty="0">
                <a:solidFill>
                  <a:srgbClr val="9FB4C8"/>
                </a:solidFill>
                <a:latin typeface="Calibri" pitchFamily="34" charset="0"/>
                <a:ea typeface="Calibri" pitchFamily="34" charset="-122"/>
                <a:cs typeface="Calibri" pitchFamily="34" charset="-120"/>
              </a:rPr>
              <a:t>openai/gpt-5.6-luna  ·  openrouter/openai/gpt-5.4-mini</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40080"/>
          </a:xfrm>
          <a:prstGeom prst="rect">
            <a:avLst/>
          </a:prstGeom>
          <a:noFill/>
          <a:ln/>
        </p:spPr>
        <p:txBody>
          <a:bodyPr wrap="square" lIns="0" tIns="0" rIns="0" bIns="0" rtlCol="0" anchor="ctr"/>
          <a:lstStyle/>
          <a:p>
            <a:pPr indent="0" marL="0">
              <a:buNone/>
            </a:pPr>
            <a:r>
              <a:rPr lang="en-US" sz="2800" b="1" dirty="0">
                <a:solidFill>
                  <a:srgbClr val="0F1B2A"/>
                </a:solidFill>
                <a:latin typeface="Cambria" pitchFamily="34" charset="0"/>
                <a:ea typeface="Cambria" pitchFamily="34" charset="-122"/>
                <a:cs typeface="Cambria" pitchFamily="34" charset="-120"/>
              </a:rPr>
              <a:t>A task is useful only in the 1-3 of 5 band</a:t>
            </a:r>
            <a:endParaRPr lang="en-US" sz="2800" dirty="0"/>
          </a:p>
        </p:txBody>
      </p:sp>
      <p:sp>
        <p:nvSpPr>
          <p:cNvPr id="3" name="Shape 1"/>
          <p:cNvSpPr/>
          <p:nvPr/>
        </p:nvSpPr>
        <p:spPr>
          <a:xfrm>
            <a:off x="457200" y="1143000"/>
            <a:ext cx="1234440" cy="1965960"/>
          </a:xfrm>
          <a:prstGeom prst="roundRect">
            <a:avLst>
              <a:gd name="adj" fmla="val 5926"/>
            </a:avLst>
          </a:prstGeom>
          <a:solidFill>
            <a:srgbClr val="C0392B"/>
          </a:solidFill>
          <a:ln w="12700">
            <a:solidFill>
              <a:srgbClr val="C0392B"/>
            </a:solidFill>
            <a:prstDash val="solid"/>
          </a:ln>
        </p:spPr>
      </p:sp>
      <p:sp>
        <p:nvSpPr>
          <p:cNvPr id="4" name="Text 2"/>
          <p:cNvSpPr txBox="1"/>
          <p:nvPr/>
        </p:nvSpPr>
        <p:spPr>
          <a:xfrm>
            <a:off x="457200" y="1325880"/>
            <a:ext cx="1234440" cy="914400"/>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0</a:t>
            </a:r>
            <a:endParaRPr lang="en-US" sz="4000" dirty="0"/>
          </a:p>
        </p:txBody>
      </p:sp>
      <p:sp>
        <p:nvSpPr>
          <p:cNvPr id="5" name="Text 3"/>
          <p:cNvSpPr txBox="1"/>
          <p:nvPr/>
        </p:nvSpPr>
        <p:spPr>
          <a:xfrm>
            <a:off x="457200" y="2331720"/>
            <a:ext cx="1234440" cy="5029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too hard</a:t>
            </a:r>
            <a:endParaRPr lang="en-US" sz="1300" dirty="0"/>
          </a:p>
        </p:txBody>
      </p:sp>
      <p:sp>
        <p:nvSpPr>
          <p:cNvPr id="6" name="Shape 4"/>
          <p:cNvSpPr/>
          <p:nvPr/>
        </p:nvSpPr>
        <p:spPr>
          <a:xfrm>
            <a:off x="1828800" y="1143000"/>
            <a:ext cx="1234440" cy="1965960"/>
          </a:xfrm>
          <a:prstGeom prst="roundRect">
            <a:avLst>
              <a:gd name="adj" fmla="val 5926"/>
            </a:avLst>
          </a:prstGeom>
          <a:solidFill>
            <a:srgbClr val="2A9D8F"/>
          </a:solidFill>
          <a:ln w="12700">
            <a:solidFill>
              <a:srgbClr val="2A9D8F"/>
            </a:solidFill>
            <a:prstDash val="solid"/>
          </a:ln>
        </p:spPr>
      </p:sp>
      <p:sp>
        <p:nvSpPr>
          <p:cNvPr id="7" name="Text 5"/>
          <p:cNvSpPr txBox="1"/>
          <p:nvPr/>
        </p:nvSpPr>
        <p:spPr>
          <a:xfrm>
            <a:off x="1828800" y="1325880"/>
            <a:ext cx="1234440" cy="914400"/>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8" name="Text 6"/>
          <p:cNvSpPr txBox="1"/>
          <p:nvPr/>
        </p:nvSpPr>
        <p:spPr>
          <a:xfrm>
            <a:off x="1828800" y="2331720"/>
            <a:ext cx="1234440" cy="5029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learnable</a:t>
            </a:r>
            <a:endParaRPr lang="en-US" sz="1300" dirty="0"/>
          </a:p>
        </p:txBody>
      </p:sp>
      <p:sp>
        <p:nvSpPr>
          <p:cNvPr id="9" name="Shape 7"/>
          <p:cNvSpPr/>
          <p:nvPr/>
        </p:nvSpPr>
        <p:spPr>
          <a:xfrm>
            <a:off x="3200400" y="1143000"/>
            <a:ext cx="1234440" cy="1965960"/>
          </a:xfrm>
          <a:prstGeom prst="roundRect">
            <a:avLst>
              <a:gd name="adj" fmla="val 5926"/>
            </a:avLst>
          </a:prstGeom>
          <a:solidFill>
            <a:srgbClr val="2A9D8F"/>
          </a:solidFill>
          <a:ln w="12700">
            <a:solidFill>
              <a:srgbClr val="2A9D8F"/>
            </a:solidFill>
            <a:prstDash val="solid"/>
          </a:ln>
        </p:spPr>
      </p:sp>
      <p:sp>
        <p:nvSpPr>
          <p:cNvPr id="10" name="Text 8"/>
          <p:cNvSpPr txBox="1"/>
          <p:nvPr/>
        </p:nvSpPr>
        <p:spPr>
          <a:xfrm>
            <a:off x="3200400" y="1325880"/>
            <a:ext cx="1234440" cy="914400"/>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11" name="Text 9"/>
          <p:cNvSpPr txBox="1"/>
          <p:nvPr/>
        </p:nvSpPr>
        <p:spPr>
          <a:xfrm>
            <a:off x="3200400" y="2331720"/>
            <a:ext cx="1234440" cy="5029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learnable</a:t>
            </a:r>
            <a:endParaRPr lang="en-US" sz="1300" dirty="0"/>
          </a:p>
        </p:txBody>
      </p:sp>
      <p:sp>
        <p:nvSpPr>
          <p:cNvPr id="12" name="Shape 10"/>
          <p:cNvSpPr/>
          <p:nvPr/>
        </p:nvSpPr>
        <p:spPr>
          <a:xfrm>
            <a:off x="4572000" y="1143000"/>
            <a:ext cx="1234440" cy="1965960"/>
          </a:xfrm>
          <a:prstGeom prst="roundRect">
            <a:avLst>
              <a:gd name="adj" fmla="val 5926"/>
            </a:avLst>
          </a:prstGeom>
          <a:solidFill>
            <a:srgbClr val="2A9D8F"/>
          </a:solidFill>
          <a:ln w="12700">
            <a:solidFill>
              <a:srgbClr val="2A9D8F"/>
            </a:solidFill>
            <a:prstDash val="solid"/>
          </a:ln>
        </p:spPr>
      </p:sp>
      <p:sp>
        <p:nvSpPr>
          <p:cNvPr id="13" name="Text 11"/>
          <p:cNvSpPr txBox="1"/>
          <p:nvPr/>
        </p:nvSpPr>
        <p:spPr>
          <a:xfrm>
            <a:off x="4572000" y="1325880"/>
            <a:ext cx="1234440" cy="914400"/>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14" name="Text 12"/>
          <p:cNvSpPr txBox="1"/>
          <p:nvPr/>
        </p:nvSpPr>
        <p:spPr>
          <a:xfrm>
            <a:off x="4572000" y="2331720"/>
            <a:ext cx="1234440" cy="5029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learnable</a:t>
            </a:r>
            <a:endParaRPr lang="en-US" sz="1300" dirty="0"/>
          </a:p>
        </p:txBody>
      </p:sp>
      <p:sp>
        <p:nvSpPr>
          <p:cNvPr id="15" name="Shape 13"/>
          <p:cNvSpPr/>
          <p:nvPr/>
        </p:nvSpPr>
        <p:spPr>
          <a:xfrm>
            <a:off x="5943600" y="1143000"/>
            <a:ext cx="1234440" cy="1965960"/>
          </a:xfrm>
          <a:prstGeom prst="roundRect">
            <a:avLst>
              <a:gd name="adj" fmla="val 5926"/>
            </a:avLst>
          </a:prstGeom>
          <a:solidFill>
            <a:srgbClr val="E9C46A"/>
          </a:solidFill>
          <a:ln w="12700">
            <a:solidFill>
              <a:srgbClr val="E9C46A"/>
            </a:solidFill>
            <a:prstDash val="solid"/>
          </a:ln>
        </p:spPr>
      </p:sp>
      <p:sp>
        <p:nvSpPr>
          <p:cNvPr id="16" name="Text 14"/>
          <p:cNvSpPr txBox="1"/>
          <p:nvPr/>
        </p:nvSpPr>
        <p:spPr>
          <a:xfrm>
            <a:off x="5943600" y="1325880"/>
            <a:ext cx="1234440" cy="914400"/>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17" name="Text 15"/>
          <p:cNvSpPr txBox="1"/>
          <p:nvPr/>
        </p:nvSpPr>
        <p:spPr>
          <a:xfrm>
            <a:off x="5943600" y="2331720"/>
            <a:ext cx="1234440" cy="5029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too easy</a:t>
            </a:r>
            <a:endParaRPr lang="en-US" sz="1300" dirty="0"/>
          </a:p>
        </p:txBody>
      </p:sp>
      <p:sp>
        <p:nvSpPr>
          <p:cNvPr id="18" name="Shape 16"/>
          <p:cNvSpPr/>
          <p:nvPr/>
        </p:nvSpPr>
        <p:spPr>
          <a:xfrm>
            <a:off x="7315200" y="1143000"/>
            <a:ext cx="1234440" cy="1965960"/>
          </a:xfrm>
          <a:prstGeom prst="roundRect">
            <a:avLst>
              <a:gd name="adj" fmla="val 5926"/>
            </a:avLst>
          </a:prstGeom>
          <a:solidFill>
            <a:srgbClr val="E9C46A"/>
          </a:solidFill>
          <a:ln w="12700">
            <a:solidFill>
              <a:srgbClr val="E9C46A"/>
            </a:solidFill>
            <a:prstDash val="solid"/>
          </a:ln>
        </p:spPr>
      </p:sp>
      <p:sp>
        <p:nvSpPr>
          <p:cNvPr id="19" name="Text 17"/>
          <p:cNvSpPr txBox="1"/>
          <p:nvPr/>
        </p:nvSpPr>
        <p:spPr>
          <a:xfrm>
            <a:off x="7315200" y="1325880"/>
            <a:ext cx="1234440" cy="914400"/>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20" name="Text 18"/>
          <p:cNvSpPr txBox="1"/>
          <p:nvPr/>
        </p:nvSpPr>
        <p:spPr>
          <a:xfrm>
            <a:off x="7315200" y="2331720"/>
            <a:ext cx="1234440" cy="5029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too easy</a:t>
            </a:r>
            <a:endParaRPr lang="en-US" sz="1300" dirty="0"/>
          </a:p>
        </p:txBody>
      </p:sp>
      <p:sp>
        <p:nvSpPr>
          <p:cNvPr id="21" name="Text 19"/>
          <p:cNvSpPr txBox="1"/>
          <p:nvPr/>
        </p:nvSpPr>
        <p:spPr>
          <a:xfrm>
            <a:off x="457200" y="3337560"/>
            <a:ext cx="8229600" cy="640080"/>
          </a:xfrm>
          <a:prstGeom prst="rect">
            <a:avLst/>
          </a:prstGeom>
          <a:noFill/>
          <a:ln/>
        </p:spPr>
        <p:txBody>
          <a:bodyPr wrap="square" lIns="0" tIns="0" rIns="0" bIns="0" rtlCol="0" anchor="ctr"/>
          <a:lstStyle/>
          <a:p>
            <a:pPr indent="0" marL="0">
              <a:buNone/>
            </a:pPr>
            <a:r>
              <a:rPr lang="en-US" sz="1500" dirty="0">
                <a:solidFill>
                  <a:srgbClr val="5A6B7A"/>
                </a:solidFill>
                <a:latin typeface="Calibri" pitchFamily="34" charset="0"/>
                <a:ea typeface="Calibri" pitchFamily="34" charset="-122"/>
                <a:cs typeface="Calibri" pitchFamily="34" charset="-120"/>
              </a:rPr>
              <a:t>Five runs of the calibration solver. Failures must be the model's fault — not a flaky environment, a hidden timeout, or an ambiguous spec.</a:t>
            </a:r>
            <a:endParaRPr lang="en-US" sz="1500" dirty="0"/>
          </a:p>
        </p:txBody>
      </p:sp>
      <p:sp>
        <p:nvSpPr>
          <p:cNvPr id="22" name="Text 20"/>
          <p:cNvSpPr txBox="1"/>
          <p:nvPr/>
        </p:nvSpPr>
        <p:spPr>
          <a:xfrm>
            <a:off x="457200" y="4069080"/>
            <a:ext cx="8229600" cy="502920"/>
          </a:xfrm>
          <a:prstGeom prst="rect">
            <a:avLst/>
          </a:prstGeom>
          <a:noFill/>
          <a:ln/>
        </p:spPr>
        <p:txBody>
          <a:bodyPr wrap="square" lIns="0" tIns="0" rIns="0" bIns="0" rtlCol="0" anchor="ctr"/>
          <a:lstStyle/>
          <a:p>
            <a:pPr indent="0" marL="0">
              <a:buNone/>
            </a:pPr>
            <a:r>
              <a:rPr lang="en-US" sz="1500" dirty="0">
                <a:solidFill>
                  <a:srgbClr val="0F1B2A"/>
                </a:solidFill>
                <a:latin typeface="Calibri" pitchFamily="34" charset="0"/>
                <a:ea typeface="Calibri" pitchFamily="34" charset="-122"/>
                <a:cs typeface="Calibri" pitchFamily="34" charset="-120"/>
              </a:rPr>
              <a:t>Sonnet → Opus: 0 of 9 in band. We rebuilt the pipeline and opened the model choice.</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40080"/>
          </a:xfrm>
          <a:prstGeom prst="rect">
            <a:avLst/>
          </a:prstGeom>
          <a:noFill/>
          <a:ln/>
        </p:spPr>
        <p:txBody>
          <a:bodyPr wrap="square" lIns="0" tIns="0" rIns="0" bIns="0" rtlCol="0" anchor="ctr"/>
          <a:lstStyle/>
          <a:p>
            <a:pPr indent="0" marL="0">
              <a:buNone/>
            </a:pPr>
            <a:r>
              <a:rPr lang="en-US" sz="2800" b="1" dirty="0">
                <a:solidFill>
                  <a:srgbClr val="0F1B2A"/>
                </a:solidFill>
                <a:latin typeface="Cambria" pitchFamily="34" charset="0"/>
                <a:ea typeface="Cambria" pitchFamily="34" charset="-122"/>
                <a:cs typeface="Cambria" pitchFamily="34" charset="-120"/>
              </a:rPr>
              <a:t>Cheap gates first. Calibration is the only difficulty signal.</a:t>
            </a:r>
            <a:endParaRPr lang="en-US" sz="2800" dirty="0"/>
          </a:p>
        </p:txBody>
      </p:sp>
      <p:sp>
        <p:nvSpPr>
          <p:cNvPr id="3" name="Shape 1"/>
          <p:cNvSpPr/>
          <p:nvPr/>
        </p:nvSpPr>
        <p:spPr>
          <a:xfrm>
            <a:off x="411480" y="1143000"/>
            <a:ext cx="1554480" cy="1051560"/>
          </a:xfrm>
          <a:prstGeom prst="roundRect">
            <a:avLst>
              <a:gd name="adj" fmla="val 6957"/>
            </a:avLst>
          </a:prstGeom>
          <a:solidFill>
            <a:srgbClr val="F3F7F6"/>
          </a:solidFill>
          <a:ln w="12700">
            <a:solidFill>
              <a:srgbClr val="F3F7F6"/>
            </a:solidFill>
            <a:prstDash val="solid"/>
          </a:ln>
        </p:spPr>
      </p:sp>
      <p:sp>
        <p:nvSpPr>
          <p:cNvPr id="4" name="Text 2"/>
          <p:cNvSpPr txBox="1"/>
          <p:nvPr/>
        </p:nvSpPr>
        <p:spPr>
          <a:xfrm>
            <a:off x="411480" y="1143000"/>
            <a:ext cx="1554480" cy="1051560"/>
          </a:xfrm>
          <a:prstGeom prst="rect">
            <a:avLst/>
          </a:prstGeom>
          <a:noFill/>
          <a:ln/>
        </p:spPr>
        <p:txBody>
          <a:bodyPr wrap="square" lIns="0" tIns="0" rIns="0" bIns="0" rtlCol="0" anchor="ctr"/>
          <a:lstStyle/>
          <a:p>
            <a:pPr algn="ctr" indent="0" marL="0">
              <a:buNone/>
            </a:pPr>
            <a:r>
              <a:rPr lang="en-US" sz="1300" b="1" dirty="0">
                <a:solidFill>
                  <a:srgbClr val="0F1B2A"/>
                </a:solidFill>
                <a:latin typeface="Calibri" pitchFamily="34" charset="0"/>
                <a:ea typeface="Calibri" pitchFamily="34" charset="-122"/>
                <a:cs typeface="Calibri" pitchFamily="34" charset="-120"/>
              </a:rPr>
              <a:t>spec</a:t>
            </a:r>
            <a:endParaRPr lang="en-US" sz="1300" dirty="0"/>
          </a:p>
        </p:txBody>
      </p:sp>
      <p:sp>
        <p:nvSpPr>
          <p:cNvPr id="5" name="Shape 3"/>
          <p:cNvSpPr/>
          <p:nvPr/>
        </p:nvSpPr>
        <p:spPr>
          <a:xfrm>
            <a:off x="1984248" y="1554480"/>
            <a:ext cx="146304" cy="201168"/>
          </a:xfrm>
          <a:prstGeom prst="rightArrow">
            <a:avLst/>
          </a:prstGeom>
          <a:solidFill>
            <a:srgbClr val="2A9D8F"/>
          </a:solidFill>
          <a:ln w="12700">
            <a:solidFill>
              <a:srgbClr val="2A9D8F"/>
            </a:solidFill>
            <a:prstDash val="solid"/>
          </a:ln>
        </p:spPr>
      </p:sp>
      <p:sp>
        <p:nvSpPr>
          <p:cNvPr id="6" name="Shape 4"/>
          <p:cNvSpPr/>
          <p:nvPr/>
        </p:nvSpPr>
        <p:spPr>
          <a:xfrm>
            <a:off x="2148840" y="1143000"/>
            <a:ext cx="1554480" cy="1051560"/>
          </a:xfrm>
          <a:prstGeom prst="roundRect">
            <a:avLst>
              <a:gd name="adj" fmla="val 6957"/>
            </a:avLst>
          </a:prstGeom>
          <a:solidFill>
            <a:srgbClr val="F3F7F6"/>
          </a:solidFill>
          <a:ln w="12700">
            <a:solidFill>
              <a:srgbClr val="F3F7F6"/>
            </a:solidFill>
            <a:prstDash val="solid"/>
          </a:ln>
        </p:spPr>
      </p:sp>
      <p:sp>
        <p:nvSpPr>
          <p:cNvPr id="7" name="Text 5"/>
          <p:cNvSpPr txBox="1"/>
          <p:nvPr/>
        </p:nvSpPr>
        <p:spPr>
          <a:xfrm>
            <a:off x="2148840" y="1143000"/>
            <a:ext cx="1554480" cy="1051560"/>
          </a:xfrm>
          <a:prstGeom prst="rect">
            <a:avLst/>
          </a:prstGeom>
          <a:noFill/>
          <a:ln/>
        </p:spPr>
        <p:txBody>
          <a:bodyPr wrap="square" lIns="0" tIns="0" rIns="0" bIns="0" rtlCol="0" anchor="ctr"/>
          <a:lstStyle/>
          <a:p>
            <a:pPr algn="ctr" indent="0" marL="0">
              <a:buNone/>
            </a:pPr>
            <a:r>
              <a:rPr lang="en-US" sz="1300" b="1" dirty="0">
                <a:solidFill>
                  <a:srgbClr val="0F1B2A"/>
                </a:solidFill>
                <a:latin typeface="Calibri" pitchFamily="34" charset="0"/>
                <a:ea typeface="Calibri" pitchFamily="34" charset="-122"/>
                <a:cs typeface="Calibri" pitchFamily="34" charset="-120"/>
              </a:rPr>
              <a:t>blueprint</a:t>
            </a:r>
            <a:endParaRPr lang="en-US" sz="1300" dirty="0"/>
          </a:p>
        </p:txBody>
      </p:sp>
      <p:sp>
        <p:nvSpPr>
          <p:cNvPr id="8" name="Shape 6"/>
          <p:cNvSpPr/>
          <p:nvPr/>
        </p:nvSpPr>
        <p:spPr>
          <a:xfrm>
            <a:off x="3721608" y="1554480"/>
            <a:ext cx="146304" cy="201168"/>
          </a:xfrm>
          <a:prstGeom prst="rightArrow">
            <a:avLst/>
          </a:prstGeom>
          <a:solidFill>
            <a:srgbClr val="2A9D8F"/>
          </a:solidFill>
          <a:ln w="12700">
            <a:solidFill>
              <a:srgbClr val="2A9D8F"/>
            </a:solidFill>
            <a:prstDash val="solid"/>
          </a:ln>
        </p:spPr>
      </p:sp>
      <p:sp>
        <p:nvSpPr>
          <p:cNvPr id="9" name="Shape 7"/>
          <p:cNvSpPr/>
          <p:nvPr/>
        </p:nvSpPr>
        <p:spPr>
          <a:xfrm>
            <a:off x="3886200" y="1143000"/>
            <a:ext cx="1554480" cy="1051560"/>
          </a:xfrm>
          <a:prstGeom prst="roundRect">
            <a:avLst>
              <a:gd name="adj" fmla="val 6957"/>
            </a:avLst>
          </a:prstGeom>
          <a:solidFill>
            <a:srgbClr val="F3F7F6"/>
          </a:solidFill>
          <a:ln w="12700">
            <a:solidFill>
              <a:srgbClr val="F3F7F6"/>
            </a:solidFill>
            <a:prstDash val="solid"/>
          </a:ln>
        </p:spPr>
      </p:sp>
      <p:sp>
        <p:nvSpPr>
          <p:cNvPr id="10" name="Text 8"/>
          <p:cNvSpPr txBox="1"/>
          <p:nvPr/>
        </p:nvSpPr>
        <p:spPr>
          <a:xfrm>
            <a:off x="3886200" y="1143000"/>
            <a:ext cx="1554480" cy="1051560"/>
          </a:xfrm>
          <a:prstGeom prst="rect">
            <a:avLst/>
          </a:prstGeom>
          <a:noFill/>
          <a:ln/>
        </p:spPr>
        <p:txBody>
          <a:bodyPr wrap="square" lIns="0" tIns="0" rIns="0" bIns="0" rtlCol="0" anchor="ctr"/>
          <a:lstStyle/>
          <a:p>
            <a:pPr algn="ctr" indent="0" marL="0">
              <a:buNone/>
            </a:pPr>
            <a:r>
              <a:rPr lang="en-US" sz="1300" b="1" dirty="0">
                <a:solidFill>
                  <a:srgbClr val="0F1B2A"/>
                </a:solidFill>
                <a:latin typeface="Calibri" pitchFamily="34" charset="0"/>
                <a:ea typeface="Calibri" pitchFamily="34" charset="-122"/>
                <a:cs typeface="Calibri" pitchFamily="34" charset="-120"/>
              </a:rPr>
              <a:t>author</a:t>
            </a:r>
            <a:endParaRPr lang="en-US" sz="1300" dirty="0"/>
          </a:p>
        </p:txBody>
      </p:sp>
      <p:sp>
        <p:nvSpPr>
          <p:cNvPr id="11" name="Shape 9"/>
          <p:cNvSpPr/>
          <p:nvPr/>
        </p:nvSpPr>
        <p:spPr>
          <a:xfrm>
            <a:off x="5458968" y="1554480"/>
            <a:ext cx="146304" cy="201168"/>
          </a:xfrm>
          <a:prstGeom prst="rightArrow">
            <a:avLst/>
          </a:prstGeom>
          <a:solidFill>
            <a:srgbClr val="2A9D8F"/>
          </a:solidFill>
          <a:ln w="12700">
            <a:solidFill>
              <a:srgbClr val="2A9D8F"/>
            </a:solidFill>
            <a:prstDash val="solid"/>
          </a:ln>
        </p:spPr>
      </p:sp>
      <p:sp>
        <p:nvSpPr>
          <p:cNvPr id="12" name="Shape 10"/>
          <p:cNvSpPr/>
          <p:nvPr/>
        </p:nvSpPr>
        <p:spPr>
          <a:xfrm>
            <a:off x="5623560" y="1143000"/>
            <a:ext cx="1554480" cy="1051560"/>
          </a:xfrm>
          <a:prstGeom prst="roundRect">
            <a:avLst>
              <a:gd name="adj" fmla="val 6957"/>
            </a:avLst>
          </a:prstGeom>
          <a:solidFill>
            <a:srgbClr val="F3F7F6"/>
          </a:solidFill>
          <a:ln w="12700">
            <a:solidFill>
              <a:srgbClr val="F3F7F6"/>
            </a:solidFill>
            <a:prstDash val="solid"/>
          </a:ln>
        </p:spPr>
      </p:sp>
      <p:sp>
        <p:nvSpPr>
          <p:cNvPr id="13" name="Text 11"/>
          <p:cNvSpPr txBox="1"/>
          <p:nvPr/>
        </p:nvSpPr>
        <p:spPr>
          <a:xfrm>
            <a:off x="5623560" y="1143000"/>
            <a:ext cx="1554480" cy="1051560"/>
          </a:xfrm>
          <a:prstGeom prst="rect">
            <a:avLst/>
          </a:prstGeom>
          <a:noFill/>
          <a:ln/>
        </p:spPr>
        <p:txBody>
          <a:bodyPr wrap="square" lIns="0" tIns="0" rIns="0" bIns="0" rtlCol="0" anchor="ctr"/>
          <a:lstStyle/>
          <a:p>
            <a:pPr algn="ctr" indent="0" marL="0">
              <a:buNone/>
            </a:pPr>
            <a:r>
              <a:rPr lang="en-US" sz="1300" b="1" dirty="0">
                <a:solidFill>
                  <a:srgbClr val="0F1B2A"/>
                </a:solidFill>
                <a:latin typeface="Calibri" pitchFamily="34" charset="0"/>
                <a:ea typeface="Calibri" pitchFamily="34" charset="-122"/>
                <a:cs typeface="Calibri" pitchFamily="34" charset="-120"/>
              </a:rPr>
              <a:t>structure</a:t>
            </a:r>
            <a:endParaRPr lang="en-US" sz="1300" dirty="0"/>
          </a:p>
          <a:p>
            <a:pPr algn="ctr" indent="0" marL="0">
              <a:buNone/>
            </a:pPr>
            <a:r>
              <a:rPr lang="en-US" sz="1300" b="1" dirty="0">
                <a:solidFill>
                  <a:srgbClr val="0F1B2A"/>
                </a:solidFill>
                <a:latin typeface="Calibri" pitchFamily="34" charset="0"/>
                <a:ea typeface="Calibri" pitchFamily="34" charset="-122"/>
                <a:cs typeface="Calibri" pitchFamily="34" charset="-120"/>
              </a:rPr>
              <a:t>lint · leak</a:t>
            </a:r>
            <a:endParaRPr lang="en-US" sz="1300" dirty="0"/>
          </a:p>
        </p:txBody>
      </p:sp>
      <p:sp>
        <p:nvSpPr>
          <p:cNvPr id="14" name="Shape 12"/>
          <p:cNvSpPr/>
          <p:nvPr/>
        </p:nvSpPr>
        <p:spPr>
          <a:xfrm>
            <a:off x="7196328" y="1554480"/>
            <a:ext cx="146304" cy="201168"/>
          </a:xfrm>
          <a:prstGeom prst="rightArrow">
            <a:avLst/>
          </a:prstGeom>
          <a:solidFill>
            <a:srgbClr val="2A9D8F"/>
          </a:solidFill>
          <a:ln w="12700">
            <a:solidFill>
              <a:srgbClr val="2A9D8F"/>
            </a:solidFill>
            <a:prstDash val="solid"/>
          </a:ln>
        </p:spPr>
      </p:sp>
      <p:sp>
        <p:nvSpPr>
          <p:cNvPr id="15" name="Shape 13"/>
          <p:cNvSpPr/>
          <p:nvPr/>
        </p:nvSpPr>
        <p:spPr>
          <a:xfrm>
            <a:off x="7360920" y="1143000"/>
            <a:ext cx="1554480" cy="1051560"/>
          </a:xfrm>
          <a:prstGeom prst="roundRect">
            <a:avLst>
              <a:gd name="adj" fmla="val 6957"/>
            </a:avLst>
          </a:prstGeom>
          <a:solidFill>
            <a:srgbClr val="2A9D8F"/>
          </a:solidFill>
          <a:ln w="12700">
            <a:solidFill>
              <a:srgbClr val="2A9D8F"/>
            </a:solidFill>
            <a:prstDash val="solid"/>
          </a:ln>
        </p:spPr>
      </p:sp>
      <p:sp>
        <p:nvSpPr>
          <p:cNvPr id="16" name="Text 14"/>
          <p:cNvSpPr txBox="1"/>
          <p:nvPr/>
        </p:nvSpPr>
        <p:spPr>
          <a:xfrm>
            <a:off x="7360920" y="1143000"/>
            <a:ext cx="1554480"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oracle 3/3</a:t>
            </a:r>
            <a:endParaRPr lang="en-US" sz="1300" dirty="0"/>
          </a:p>
          <a:p>
            <a:pPr algn="ctr" indent="0" marL="0">
              <a:buNone/>
            </a:pPr>
            <a:r>
              <a:rPr lang="en-US" sz="1300" b="1" dirty="0">
                <a:solidFill>
                  <a:srgbClr val="FFFFFF"/>
                </a:solidFill>
                <a:latin typeface="Calibri" pitchFamily="34" charset="0"/>
                <a:ea typeface="Calibri" pitchFamily="34" charset="-122"/>
                <a:cs typeface="Calibri" pitchFamily="34" charset="-120"/>
              </a:rPr>
              <a:t>+ nop</a:t>
            </a:r>
            <a:endParaRPr lang="en-US" sz="1300" dirty="0"/>
          </a:p>
        </p:txBody>
      </p:sp>
      <p:sp>
        <p:nvSpPr>
          <p:cNvPr id="17" name="Shape 15"/>
          <p:cNvSpPr/>
          <p:nvPr/>
        </p:nvSpPr>
        <p:spPr>
          <a:xfrm>
            <a:off x="411480" y="2468880"/>
            <a:ext cx="1554480" cy="1051560"/>
          </a:xfrm>
          <a:prstGeom prst="roundRect">
            <a:avLst>
              <a:gd name="adj" fmla="val 6957"/>
            </a:avLst>
          </a:prstGeom>
          <a:solidFill>
            <a:srgbClr val="F3F7F6"/>
          </a:solidFill>
          <a:ln w="12700">
            <a:solidFill>
              <a:srgbClr val="F3F7F6"/>
            </a:solidFill>
            <a:prstDash val="solid"/>
          </a:ln>
        </p:spPr>
      </p:sp>
      <p:sp>
        <p:nvSpPr>
          <p:cNvPr id="18" name="Text 16"/>
          <p:cNvSpPr txBox="1"/>
          <p:nvPr/>
        </p:nvSpPr>
        <p:spPr>
          <a:xfrm>
            <a:off x="411480" y="2468880"/>
            <a:ext cx="1554480" cy="1051560"/>
          </a:xfrm>
          <a:prstGeom prst="rect">
            <a:avLst/>
          </a:prstGeom>
          <a:noFill/>
          <a:ln/>
        </p:spPr>
        <p:txBody>
          <a:bodyPr wrap="square" lIns="0" tIns="0" rIns="0" bIns="0" rtlCol="0" anchor="ctr"/>
          <a:lstStyle/>
          <a:p>
            <a:pPr algn="ctr" indent="0" marL="0">
              <a:buNone/>
            </a:pPr>
            <a:r>
              <a:rPr lang="en-US" sz="1300" b="1" dirty="0">
                <a:solidFill>
                  <a:srgbClr val="0F1B2A"/>
                </a:solidFill>
                <a:latin typeface="Calibri" pitchFamily="34" charset="0"/>
                <a:ea typeface="Calibri" pitchFamily="34" charset="-122"/>
                <a:cs typeface="Calibri" pitchFamily="34" charset="-120"/>
              </a:rPr>
              <a:t>quality</a:t>
            </a:r>
            <a:endParaRPr lang="en-US" sz="1300" dirty="0"/>
          </a:p>
          <a:p>
            <a:pPr algn="ctr" indent="0" marL="0">
              <a:buNone/>
            </a:pPr>
            <a:r>
              <a:rPr lang="en-US" sz="1300" b="1" dirty="0">
                <a:solidFill>
                  <a:srgbClr val="0F1B2A"/>
                </a:solidFill>
                <a:latin typeface="Calibri" pitchFamily="34" charset="0"/>
                <a:ea typeface="Calibri" pitchFamily="34" charset="-122"/>
                <a:cs typeface="Calibri" pitchFamily="34" charset="-120"/>
              </a:rPr>
              <a:t>check</a:t>
            </a:r>
            <a:endParaRPr lang="en-US" sz="1300" dirty="0"/>
          </a:p>
        </p:txBody>
      </p:sp>
      <p:sp>
        <p:nvSpPr>
          <p:cNvPr id="19" name="Shape 17"/>
          <p:cNvSpPr/>
          <p:nvPr/>
        </p:nvSpPr>
        <p:spPr>
          <a:xfrm>
            <a:off x="1984248" y="2880360"/>
            <a:ext cx="146304" cy="201168"/>
          </a:xfrm>
          <a:prstGeom prst="rightArrow">
            <a:avLst/>
          </a:prstGeom>
          <a:solidFill>
            <a:srgbClr val="2A9D8F"/>
          </a:solidFill>
          <a:ln w="12700">
            <a:solidFill>
              <a:srgbClr val="2A9D8F"/>
            </a:solidFill>
            <a:prstDash val="solid"/>
          </a:ln>
        </p:spPr>
      </p:sp>
      <p:sp>
        <p:nvSpPr>
          <p:cNvPr id="20" name="Shape 18"/>
          <p:cNvSpPr/>
          <p:nvPr/>
        </p:nvSpPr>
        <p:spPr>
          <a:xfrm>
            <a:off x="2148840" y="2468880"/>
            <a:ext cx="1554480" cy="1051560"/>
          </a:xfrm>
          <a:prstGeom prst="roundRect">
            <a:avLst>
              <a:gd name="adj" fmla="val 6957"/>
            </a:avLst>
          </a:prstGeom>
          <a:solidFill>
            <a:srgbClr val="F3F7F6"/>
          </a:solidFill>
          <a:ln w="12700">
            <a:solidFill>
              <a:srgbClr val="F3F7F6"/>
            </a:solidFill>
            <a:prstDash val="solid"/>
          </a:ln>
        </p:spPr>
      </p:sp>
      <p:sp>
        <p:nvSpPr>
          <p:cNvPr id="21" name="Text 19"/>
          <p:cNvSpPr txBox="1"/>
          <p:nvPr/>
        </p:nvSpPr>
        <p:spPr>
          <a:xfrm>
            <a:off x="2148840" y="2468880"/>
            <a:ext cx="1554480" cy="1051560"/>
          </a:xfrm>
          <a:prstGeom prst="rect">
            <a:avLst/>
          </a:prstGeom>
          <a:noFill/>
          <a:ln/>
        </p:spPr>
        <p:txBody>
          <a:bodyPr wrap="square" lIns="0" tIns="0" rIns="0" bIns="0" rtlCol="0" anchor="ctr"/>
          <a:lstStyle/>
          <a:p>
            <a:pPr algn="ctr" indent="0" marL="0">
              <a:buNone/>
            </a:pPr>
            <a:r>
              <a:rPr lang="en-US" sz="1300" b="1" dirty="0">
                <a:solidFill>
                  <a:srgbClr val="0F1B2A"/>
                </a:solidFill>
                <a:latin typeface="Calibri" pitchFamily="34" charset="0"/>
                <a:ea typeface="Calibri" pitchFamily="34" charset="-122"/>
                <a:cs typeface="Calibri" pitchFamily="34" charset="-120"/>
              </a:rPr>
              <a:t>novelty</a:t>
            </a:r>
            <a:endParaRPr lang="en-US" sz="1300" dirty="0"/>
          </a:p>
        </p:txBody>
      </p:sp>
      <p:sp>
        <p:nvSpPr>
          <p:cNvPr id="22" name="Shape 20"/>
          <p:cNvSpPr/>
          <p:nvPr/>
        </p:nvSpPr>
        <p:spPr>
          <a:xfrm>
            <a:off x="3721608" y="2880360"/>
            <a:ext cx="146304" cy="201168"/>
          </a:xfrm>
          <a:prstGeom prst="rightArrow">
            <a:avLst/>
          </a:prstGeom>
          <a:solidFill>
            <a:srgbClr val="2A9D8F"/>
          </a:solidFill>
          <a:ln w="12700">
            <a:solidFill>
              <a:srgbClr val="2A9D8F"/>
            </a:solidFill>
            <a:prstDash val="solid"/>
          </a:ln>
        </p:spPr>
      </p:sp>
      <p:sp>
        <p:nvSpPr>
          <p:cNvPr id="23" name="Shape 21"/>
          <p:cNvSpPr/>
          <p:nvPr/>
        </p:nvSpPr>
        <p:spPr>
          <a:xfrm>
            <a:off x="3886200" y="2468880"/>
            <a:ext cx="1554480" cy="1051560"/>
          </a:xfrm>
          <a:prstGeom prst="roundRect">
            <a:avLst>
              <a:gd name="adj" fmla="val 6957"/>
            </a:avLst>
          </a:prstGeom>
          <a:solidFill>
            <a:srgbClr val="F3F7F6"/>
          </a:solidFill>
          <a:ln w="12700">
            <a:solidFill>
              <a:srgbClr val="F3F7F6"/>
            </a:solidFill>
            <a:prstDash val="solid"/>
          </a:ln>
        </p:spPr>
      </p:sp>
      <p:sp>
        <p:nvSpPr>
          <p:cNvPr id="24" name="Text 22"/>
          <p:cNvSpPr txBox="1"/>
          <p:nvPr/>
        </p:nvSpPr>
        <p:spPr>
          <a:xfrm>
            <a:off x="3886200" y="2468880"/>
            <a:ext cx="1554480" cy="1051560"/>
          </a:xfrm>
          <a:prstGeom prst="rect">
            <a:avLst/>
          </a:prstGeom>
          <a:noFill/>
          <a:ln/>
        </p:spPr>
        <p:txBody>
          <a:bodyPr wrap="square" lIns="0" tIns="0" rIns="0" bIns="0" rtlCol="0" anchor="ctr"/>
          <a:lstStyle/>
          <a:p>
            <a:pPr algn="ctr" indent="0" marL="0">
              <a:buNone/>
            </a:pPr>
            <a:r>
              <a:rPr lang="en-US" sz="1300" b="1" dirty="0">
                <a:solidFill>
                  <a:srgbClr val="0F1B2A"/>
                </a:solidFill>
                <a:latin typeface="Calibri" pitchFamily="34" charset="0"/>
                <a:ea typeface="Calibri" pitchFamily="34" charset="-122"/>
                <a:cs typeface="Calibri" pitchFamily="34" charset="-120"/>
              </a:rPr>
              <a:t>red-team</a:t>
            </a:r>
            <a:endParaRPr lang="en-US" sz="1300" dirty="0"/>
          </a:p>
        </p:txBody>
      </p:sp>
      <p:sp>
        <p:nvSpPr>
          <p:cNvPr id="25" name="Shape 23"/>
          <p:cNvSpPr/>
          <p:nvPr/>
        </p:nvSpPr>
        <p:spPr>
          <a:xfrm>
            <a:off x="5458968" y="2880360"/>
            <a:ext cx="146304" cy="201168"/>
          </a:xfrm>
          <a:prstGeom prst="rightArrow">
            <a:avLst/>
          </a:prstGeom>
          <a:solidFill>
            <a:srgbClr val="2A9D8F"/>
          </a:solidFill>
          <a:ln w="12700">
            <a:solidFill>
              <a:srgbClr val="2A9D8F"/>
            </a:solidFill>
            <a:prstDash val="solid"/>
          </a:ln>
        </p:spPr>
      </p:sp>
      <p:sp>
        <p:nvSpPr>
          <p:cNvPr id="26" name="Shape 24"/>
          <p:cNvSpPr/>
          <p:nvPr/>
        </p:nvSpPr>
        <p:spPr>
          <a:xfrm>
            <a:off x="5623560" y="2468880"/>
            <a:ext cx="1554480" cy="1051560"/>
          </a:xfrm>
          <a:prstGeom prst="roundRect">
            <a:avLst>
              <a:gd name="adj" fmla="val 6957"/>
            </a:avLst>
          </a:prstGeom>
          <a:solidFill>
            <a:srgbClr val="2A9D8F"/>
          </a:solidFill>
          <a:ln w="12700">
            <a:solidFill>
              <a:srgbClr val="2A9D8F"/>
            </a:solidFill>
            <a:prstDash val="solid"/>
          </a:ln>
        </p:spPr>
      </p:sp>
      <p:sp>
        <p:nvSpPr>
          <p:cNvPr id="27" name="Text 25"/>
          <p:cNvSpPr txBox="1"/>
          <p:nvPr/>
        </p:nvSpPr>
        <p:spPr>
          <a:xfrm>
            <a:off x="5623560" y="2468880"/>
            <a:ext cx="1554480"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calibrate</a:t>
            </a:r>
            <a:endParaRPr lang="en-US" sz="1300" dirty="0"/>
          </a:p>
          <a:p>
            <a:pPr algn="ctr" indent="0" marL="0">
              <a:buNone/>
            </a:pPr>
            <a:r>
              <a:rPr lang="en-US" sz="1300" b="1" dirty="0">
                <a:solidFill>
                  <a:srgbClr val="FFFFFF"/>
                </a:solidFill>
                <a:latin typeface="Calibri" pitchFamily="34" charset="0"/>
                <a:ea typeface="Calibri" pitchFamily="34" charset="-122"/>
                <a:cs typeface="Calibri" pitchFamily="34" charset="-120"/>
              </a:rPr>
              <a:t>5×, curtailed</a:t>
            </a:r>
            <a:endParaRPr lang="en-US" sz="1300" dirty="0"/>
          </a:p>
        </p:txBody>
      </p:sp>
      <p:sp>
        <p:nvSpPr>
          <p:cNvPr id="28" name="Shape 26"/>
          <p:cNvSpPr/>
          <p:nvPr/>
        </p:nvSpPr>
        <p:spPr>
          <a:xfrm>
            <a:off x="7196328" y="2880360"/>
            <a:ext cx="146304" cy="201168"/>
          </a:xfrm>
          <a:prstGeom prst="rightArrow">
            <a:avLst/>
          </a:prstGeom>
          <a:solidFill>
            <a:srgbClr val="2A9D8F"/>
          </a:solidFill>
          <a:ln w="12700">
            <a:solidFill>
              <a:srgbClr val="2A9D8F"/>
            </a:solidFill>
            <a:prstDash val="solid"/>
          </a:ln>
        </p:spPr>
      </p:sp>
      <p:sp>
        <p:nvSpPr>
          <p:cNvPr id="29" name="Shape 27"/>
          <p:cNvSpPr/>
          <p:nvPr/>
        </p:nvSpPr>
        <p:spPr>
          <a:xfrm>
            <a:off x="7360920" y="2468880"/>
            <a:ext cx="1554480" cy="1051560"/>
          </a:xfrm>
          <a:prstGeom prst="roundRect">
            <a:avLst>
              <a:gd name="adj" fmla="val 6957"/>
            </a:avLst>
          </a:prstGeom>
          <a:solidFill>
            <a:srgbClr val="F3F7F6"/>
          </a:solidFill>
          <a:ln w="12700">
            <a:solidFill>
              <a:srgbClr val="F3F7F6"/>
            </a:solidFill>
            <a:prstDash val="solid"/>
          </a:ln>
        </p:spPr>
      </p:sp>
      <p:sp>
        <p:nvSpPr>
          <p:cNvPr id="30" name="Text 28"/>
          <p:cNvSpPr txBox="1"/>
          <p:nvPr/>
        </p:nvSpPr>
        <p:spPr>
          <a:xfrm>
            <a:off x="7360920" y="2468880"/>
            <a:ext cx="1554480" cy="1051560"/>
          </a:xfrm>
          <a:prstGeom prst="rect">
            <a:avLst/>
          </a:prstGeom>
          <a:noFill/>
          <a:ln/>
        </p:spPr>
        <p:txBody>
          <a:bodyPr wrap="square" lIns="0" tIns="0" rIns="0" bIns="0" rtlCol="0" anchor="ctr"/>
          <a:lstStyle/>
          <a:p>
            <a:pPr algn="ctr" indent="0" marL="0">
              <a:buNone/>
            </a:pPr>
            <a:r>
              <a:rPr lang="en-US" sz="1300" b="1" dirty="0">
                <a:solidFill>
                  <a:srgbClr val="0F1B2A"/>
                </a:solidFill>
                <a:latin typeface="Calibri" pitchFamily="34" charset="0"/>
                <a:ea typeface="Calibri" pitchFamily="34" charset="-122"/>
                <a:cs typeface="Calibri" pitchFamily="34" charset="-120"/>
              </a:rPr>
              <a:t>ship</a:t>
            </a:r>
            <a:endParaRPr lang="en-US" sz="1300" dirty="0"/>
          </a:p>
          <a:p>
            <a:pPr algn="ctr" indent="0" marL="0">
              <a:buNone/>
            </a:pPr>
            <a:r>
              <a:rPr lang="en-US" sz="1300" b="1" dirty="0">
                <a:solidFill>
                  <a:srgbClr val="0F1B2A"/>
                </a:solidFill>
                <a:latin typeface="Calibri" pitchFamily="34" charset="0"/>
                <a:ea typeface="Calibri" pitchFamily="34" charset="-122"/>
                <a:cs typeface="Calibri" pitchFamily="34" charset="-120"/>
              </a:rPr>
              <a:t>in band</a:t>
            </a:r>
            <a:endParaRPr lang="en-US" sz="1300" dirty="0"/>
          </a:p>
        </p:txBody>
      </p:sp>
      <p:sp>
        <p:nvSpPr>
          <p:cNvPr id="31" name="Text 29"/>
          <p:cNvSpPr txBox="1"/>
          <p:nvPr/>
        </p:nvSpPr>
        <p:spPr>
          <a:xfrm>
            <a:off x="457200" y="3794760"/>
            <a:ext cx="8229600" cy="640080"/>
          </a:xfrm>
          <a:prstGeom prst="rect">
            <a:avLst/>
          </a:prstGeom>
          <a:noFill/>
          <a:ln/>
        </p:spPr>
        <p:txBody>
          <a:bodyPr wrap="square" lIns="0" tIns="0" rIns="0" bIns="0" rtlCol="0" anchor="ctr"/>
          <a:lstStyle/>
          <a:p>
            <a:pPr indent="0" marL="0">
              <a:buNone/>
            </a:pPr>
            <a:r>
              <a:rPr lang="en-US" sz="1500" dirty="0">
                <a:solidFill>
                  <a:srgbClr val="5A6B7A"/>
                </a:solidFill>
                <a:latin typeface="Calibri" pitchFamily="34" charset="0"/>
                <a:ea typeface="Calibri" pitchFamily="34" charset="-122"/>
                <a:cs typeface="Calibri" pitchFamily="34" charset="-120"/>
              </a:rPr>
              <a:t>Failures feed repair rounds. A directory in output/ is not approval — only a hash-bound calibration record is.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40080"/>
          </a:xfrm>
          <a:prstGeom prst="rect">
            <a:avLst/>
          </a:prstGeom>
          <a:noFill/>
          <a:ln/>
        </p:spPr>
        <p:txBody>
          <a:bodyPr wrap="square" lIns="0" tIns="0" rIns="0" bIns="0" rtlCol="0" anchor="ctr"/>
          <a:lstStyle/>
          <a:p>
            <a:pPr indent="0" marL="0">
              <a:buNone/>
            </a:pPr>
            <a:r>
              <a:rPr lang="en-US" sz="2800" b="1" dirty="0">
                <a:solidFill>
                  <a:srgbClr val="0F1B2A"/>
                </a:solidFill>
                <a:latin typeface="Cambria" pitchFamily="34" charset="0"/>
                <a:ea typeface="Cambria" pitchFamily="34" charset="-122"/>
                <a:cs typeface="Cambria" pitchFamily="34" charset="-120"/>
              </a:rPr>
              <a:t>One fixed pair. The band is relative to the solver.</a:t>
            </a:r>
            <a:endParaRPr lang="en-US" sz="2800" dirty="0"/>
          </a:p>
        </p:txBody>
      </p:sp>
      <p:sp>
        <p:nvSpPr>
          <p:cNvPr id="3" name="Shape 1"/>
          <p:cNvSpPr/>
          <p:nvPr/>
        </p:nvSpPr>
        <p:spPr>
          <a:xfrm>
            <a:off x="457200" y="1143000"/>
            <a:ext cx="2697480" cy="2331720"/>
          </a:xfrm>
          <a:prstGeom prst="roundRect">
            <a:avLst>
              <a:gd name="adj" fmla="val 3137"/>
            </a:avLst>
          </a:prstGeom>
          <a:solidFill>
            <a:srgbClr val="F3F7F6"/>
          </a:solidFill>
          <a:ln w="12700">
            <a:solidFill>
              <a:srgbClr val="F3F7F6"/>
            </a:solidFill>
            <a:prstDash val="solid"/>
          </a:ln>
        </p:spPr>
      </p:sp>
      <p:sp>
        <p:nvSpPr>
          <p:cNvPr id="4" name="Text 2"/>
          <p:cNvSpPr txBox="1"/>
          <p:nvPr/>
        </p:nvSpPr>
        <p:spPr>
          <a:xfrm>
            <a:off x="621792" y="1280160"/>
            <a:ext cx="2377440" cy="320040"/>
          </a:xfrm>
          <a:prstGeom prst="rect">
            <a:avLst/>
          </a:prstGeom>
          <a:noFill/>
          <a:ln/>
        </p:spPr>
        <p:txBody>
          <a:bodyPr wrap="square" lIns="0" tIns="0" rIns="0" bIns="0" rtlCol="0" anchor="ctr"/>
          <a:lstStyle/>
          <a:p>
            <a:pPr indent="0" marL="0">
              <a:buNone/>
            </a:pPr>
            <a:r>
              <a:rPr lang="en-US" sz="1300" b="1" dirty="0">
                <a:solidFill>
                  <a:srgbClr val="2A9D8F"/>
                </a:solidFill>
                <a:latin typeface="Calibri" pitchFamily="34" charset="0"/>
                <a:ea typeface="Calibri" pitchFamily="34" charset="-122"/>
                <a:cs typeface="Calibri" pitchFamily="34" charset="-120"/>
              </a:rPr>
              <a:t>Author</a:t>
            </a:r>
            <a:endParaRPr lang="en-US" sz="1300" dirty="0"/>
          </a:p>
        </p:txBody>
      </p:sp>
      <p:sp>
        <p:nvSpPr>
          <p:cNvPr id="5" name="Text 3"/>
          <p:cNvSpPr txBox="1"/>
          <p:nvPr/>
        </p:nvSpPr>
        <p:spPr>
          <a:xfrm>
            <a:off x="621792" y="1691640"/>
            <a:ext cx="2377440" cy="640080"/>
          </a:xfrm>
          <a:prstGeom prst="rect">
            <a:avLst/>
          </a:prstGeom>
          <a:noFill/>
          <a:ln/>
        </p:spPr>
        <p:txBody>
          <a:bodyPr wrap="square" lIns="0" tIns="0" rIns="0" bIns="0" rtlCol="0" anchor="ctr"/>
          <a:lstStyle/>
          <a:p>
            <a:pPr indent="0" marL="0">
              <a:buNone/>
            </a:pPr>
            <a:r>
              <a:rPr lang="en-US" sz="2200" b="1" dirty="0">
                <a:solidFill>
                  <a:srgbClr val="0F1B2A"/>
                </a:solidFill>
                <a:latin typeface="Cambria" pitchFamily="34" charset="0"/>
                <a:ea typeface="Cambria" pitchFamily="34" charset="-122"/>
                <a:cs typeface="Cambria" pitchFamily="34" charset="-120"/>
              </a:rPr>
              <a:t>gpt-5.6-luna</a:t>
            </a:r>
            <a:endParaRPr lang="en-US" sz="2200" dirty="0"/>
          </a:p>
        </p:txBody>
      </p:sp>
      <p:sp>
        <p:nvSpPr>
          <p:cNvPr id="6" name="Text 4"/>
          <p:cNvSpPr txBox="1"/>
          <p:nvPr/>
        </p:nvSpPr>
        <p:spPr>
          <a:xfrm>
            <a:off x="621792" y="2468880"/>
            <a:ext cx="2377440" cy="731520"/>
          </a:xfrm>
          <a:prstGeom prst="rect">
            <a:avLst/>
          </a:prstGeom>
          <a:noFill/>
          <a:ln/>
        </p:spPr>
        <p:txBody>
          <a:bodyPr wrap="square" lIns="0" tIns="0" rIns="0" bIns="0" rtlCol="0" anchor="ctr"/>
          <a:lstStyle/>
          <a:p>
            <a:pPr indent="0" marL="0">
              <a:buNone/>
            </a:pPr>
            <a:r>
              <a:rPr lang="en-US" sz="1400" dirty="0">
                <a:solidFill>
                  <a:srgbClr val="5A6B7A"/>
                </a:solidFill>
                <a:latin typeface="Calibri" pitchFamily="34" charset="0"/>
                <a:ea typeface="Calibri" pitchFamily="34" charset="-122"/>
                <a:cs typeface="Calibri" pitchFamily="34" charset="-120"/>
              </a:rPr>
              <a:t>writes, reviews, judges, red-teams</a:t>
            </a:r>
            <a:endParaRPr lang="en-US" sz="1400" dirty="0"/>
          </a:p>
        </p:txBody>
      </p:sp>
      <p:sp>
        <p:nvSpPr>
          <p:cNvPr id="7" name="Shape 5"/>
          <p:cNvSpPr/>
          <p:nvPr/>
        </p:nvSpPr>
        <p:spPr>
          <a:xfrm>
            <a:off x="3291840" y="1143000"/>
            <a:ext cx="2697480" cy="2331720"/>
          </a:xfrm>
          <a:prstGeom prst="roundRect">
            <a:avLst>
              <a:gd name="adj" fmla="val 3137"/>
            </a:avLst>
          </a:prstGeom>
          <a:solidFill>
            <a:srgbClr val="F3F7F6"/>
          </a:solidFill>
          <a:ln w="12700">
            <a:solidFill>
              <a:srgbClr val="F3F7F6"/>
            </a:solidFill>
            <a:prstDash val="solid"/>
          </a:ln>
        </p:spPr>
      </p:sp>
      <p:sp>
        <p:nvSpPr>
          <p:cNvPr id="8" name="Text 6"/>
          <p:cNvSpPr txBox="1"/>
          <p:nvPr/>
        </p:nvSpPr>
        <p:spPr>
          <a:xfrm>
            <a:off x="3456432" y="1280160"/>
            <a:ext cx="2377440" cy="320040"/>
          </a:xfrm>
          <a:prstGeom prst="rect">
            <a:avLst/>
          </a:prstGeom>
          <a:noFill/>
          <a:ln/>
        </p:spPr>
        <p:txBody>
          <a:bodyPr wrap="square" lIns="0" tIns="0" rIns="0" bIns="0" rtlCol="0" anchor="ctr"/>
          <a:lstStyle/>
          <a:p>
            <a:pPr indent="0" marL="0">
              <a:buNone/>
            </a:pPr>
            <a:r>
              <a:rPr lang="en-US" sz="1300" b="1" dirty="0">
                <a:solidFill>
                  <a:srgbClr val="2A9D8F"/>
                </a:solidFill>
                <a:latin typeface="Calibri" pitchFamily="34" charset="0"/>
                <a:ea typeface="Calibri" pitchFamily="34" charset="-122"/>
                <a:cs typeface="Calibri" pitchFamily="34" charset="-120"/>
              </a:rPr>
              <a:t>Solver</a:t>
            </a:r>
            <a:endParaRPr lang="en-US" sz="1300" dirty="0"/>
          </a:p>
        </p:txBody>
      </p:sp>
      <p:sp>
        <p:nvSpPr>
          <p:cNvPr id="9" name="Text 7"/>
          <p:cNvSpPr txBox="1"/>
          <p:nvPr/>
        </p:nvSpPr>
        <p:spPr>
          <a:xfrm>
            <a:off x="3456432" y="1691640"/>
            <a:ext cx="2377440" cy="640080"/>
          </a:xfrm>
          <a:prstGeom prst="rect">
            <a:avLst/>
          </a:prstGeom>
          <a:noFill/>
          <a:ln/>
        </p:spPr>
        <p:txBody>
          <a:bodyPr wrap="square" lIns="0" tIns="0" rIns="0" bIns="0" rtlCol="0" anchor="ctr"/>
          <a:lstStyle/>
          <a:p>
            <a:pPr indent="0" marL="0">
              <a:buNone/>
            </a:pPr>
            <a:r>
              <a:rPr lang="en-US" sz="2200" b="1" dirty="0">
                <a:solidFill>
                  <a:srgbClr val="0F1B2A"/>
                </a:solidFill>
                <a:latin typeface="Cambria" pitchFamily="34" charset="0"/>
                <a:ea typeface="Cambria" pitchFamily="34" charset="-122"/>
                <a:cs typeface="Cambria" pitchFamily="34" charset="-120"/>
              </a:rPr>
              <a:t>gpt-5.4-mini</a:t>
            </a:r>
            <a:endParaRPr lang="en-US" sz="2200" dirty="0"/>
          </a:p>
        </p:txBody>
      </p:sp>
      <p:sp>
        <p:nvSpPr>
          <p:cNvPr id="10" name="Text 8"/>
          <p:cNvSpPr txBox="1"/>
          <p:nvPr/>
        </p:nvSpPr>
        <p:spPr>
          <a:xfrm>
            <a:off x="3456432" y="2468880"/>
            <a:ext cx="2377440" cy="731520"/>
          </a:xfrm>
          <a:prstGeom prst="rect">
            <a:avLst/>
          </a:prstGeom>
          <a:noFill/>
          <a:ln/>
        </p:spPr>
        <p:txBody>
          <a:bodyPr wrap="square" lIns="0" tIns="0" rIns="0" bIns="0" rtlCol="0" anchor="ctr"/>
          <a:lstStyle/>
          <a:p>
            <a:pPr indent="0" marL="0">
              <a:buNone/>
            </a:pPr>
            <a:r>
              <a:rPr lang="en-US" sz="1400" dirty="0">
                <a:solidFill>
                  <a:srgbClr val="5A6B7A"/>
                </a:solidFill>
                <a:latin typeface="Calibri" pitchFamily="34" charset="0"/>
                <a:ea typeface="Calibri" pitchFamily="34" charset="-122"/>
                <a:cs typeface="Calibri" pitchFamily="34" charset="-120"/>
              </a:rPr>
              <a:t>terminus-2 · 5 attempts · 100-turn cap</a:t>
            </a:r>
            <a:endParaRPr lang="en-US" sz="1400" dirty="0"/>
          </a:p>
        </p:txBody>
      </p:sp>
      <p:sp>
        <p:nvSpPr>
          <p:cNvPr id="11" name="Shape 9"/>
          <p:cNvSpPr/>
          <p:nvPr/>
        </p:nvSpPr>
        <p:spPr>
          <a:xfrm>
            <a:off x="6126480" y="1143000"/>
            <a:ext cx="2697480" cy="2331720"/>
          </a:xfrm>
          <a:prstGeom prst="roundRect">
            <a:avLst>
              <a:gd name="adj" fmla="val 3137"/>
            </a:avLst>
          </a:prstGeom>
          <a:solidFill>
            <a:srgbClr val="F3F7F6"/>
          </a:solidFill>
          <a:ln w="12700">
            <a:solidFill>
              <a:srgbClr val="F3F7F6"/>
            </a:solidFill>
            <a:prstDash val="solid"/>
          </a:ln>
        </p:spPr>
      </p:sp>
      <p:sp>
        <p:nvSpPr>
          <p:cNvPr id="12" name="Text 10"/>
          <p:cNvSpPr txBox="1"/>
          <p:nvPr/>
        </p:nvSpPr>
        <p:spPr>
          <a:xfrm>
            <a:off x="6291072" y="1280160"/>
            <a:ext cx="2377440" cy="320040"/>
          </a:xfrm>
          <a:prstGeom prst="rect">
            <a:avLst/>
          </a:prstGeom>
          <a:noFill/>
          <a:ln/>
        </p:spPr>
        <p:txBody>
          <a:bodyPr wrap="square" lIns="0" tIns="0" rIns="0" bIns="0" rtlCol="0" anchor="ctr"/>
          <a:lstStyle/>
          <a:p>
            <a:pPr indent="0" marL="0">
              <a:buNone/>
            </a:pPr>
            <a:r>
              <a:rPr lang="en-US" sz="1300" b="1" dirty="0">
                <a:solidFill>
                  <a:srgbClr val="2A9D8F"/>
                </a:solidFill>
                <a:latin typeface="Calibri" pitchFamily="34" charset="0"/>
                <a:ea typeface="Calibri" pitchFamily="34" charset="-122"/>
                <a:cs typeface="Calibri" pitchFamily="34" charset="-120"/>
              </a:rPr>
              <a:t>Novelty</a:t>
            </a:r>
            <a:endParaRPr lang="en-US" sz="1300" dirty="0"/>
          </a:p>
        </p:txBody>
      </p:sp>
      <p:sp>
        <p:nvSpPr>
          <p:cNvPr id="13" name="Text 11"/>
          <p:cNvSpPr txBox="1"/>
          <p:nvPr/>
        </p:nvSpPr>
        <p:spPr>
          <a:xfrm>
            <a:off x="6291072" y="1691640"/>
            <a:ext cx="2377440" cy="640080"/>
          </a:xfrm>
          <a:prstGeom prst="rect">
            <a:avLst/>
          </a:prstGeom>
          <a:noFill/>
          <a:ln/>
        </p:spPr>
        <p:txBody>
          <a:bodyPr wrap="square" lIns="0" tIns="0" rIns="0" bIns="0" rtlCol="0" anchor="ctr"/>
          <a:lstStyle/>
          <a:p>
            <a:pPr indent="0" marL="0">
              <a:buNone/>
            </a:pPr>
            <a:r>
              <a:rPr lang="en-US" sz="2200" b="1" dirty="0">
                <a:solidFill>
                  <a:srgbClr val="0F1B2A"/>
                </a:solidFill>
                <a:latin typeface="Cambria" pitchFamily="34" charset="0"/>
                <a:ea typeface="Cambria" pitchFamily="34" charset="-122"/>
                <a:cs typeface="Cambria" pitchFamily="34" charset="-120"/>
              </a:rPr>
              <a:t>TB 2.1</a:t>
            </a:r>
            <a:endParaRPr lang="en-US" sz="2200" dirty="0"/>
          </a:p>
        </p:txBody>
      </p:sp>
      <p:sp>
        <p:nvSpPr>
          <p:cNvPr id="14" name="Text 12"/>
          <p:cNvSpPr txBox="1"/>
          <p:nvPr/>
        </p:nvSpPr>
        <p:spPr>
          <a:xfrm>
            <a:off x="6291072" y="2468880"/>
            <a:ext cx="2377440" cy="731520"/>
          </a:xfrm>
          <a:prstGeom prst="rect">
            <a:avLst/>
          </a:prstGeom>
          <a:noFill/>
          <a:ln/>
        </p:spPr>
        <p:txBody>
          <a:bodyPr wrap="square" lIns="0" tIns="0" rIns="0" bIns="0" rtlCol="0" anchor="ctr"/>
          <a:lstStyle/>
          <a:p>
            <a:pPr indent="0" marL="0">
              <a:buNone/>
            </a:pPr>
            <a:r>
              <a:rPr lang="en-US" sz="1400" dirty="0">
                <a:solidFill>
                  <a:srgbClr val="5A6B7A"/>
                </a:solidFill>
                <a:latin typeface="Calibri" pitchFamily="34" charset="0"/>
                <a:ea typeface="Calibri" pitchFamily="34" charset="-122"/>
                <a:cs typeface="Calibri" pitchFamily="34" charset="-120"/>
              </a:rPr>
              <a:t>89 published tasks + examples/</a:t>
            </a:r>
            <a:endParaRPr lang="en-US" sz="1400" dirty="0"/>
          </a:p>
        </p:txBody>
      </p:sp>
      <p:sp>
        <p:nvSpPr>
          <p:cNvPr id="15" name="Text 13"/>
          <p:cNvSpPr txBox="1"/>
          <p:nvPr/>
        </p:nvSpPr>
        <p:spPr>
          <a:xfrm>
            <a:off x="457200" y="3794760"/>
            <a:ext cx="8229600" cy="548640"/>
          </a:xfrm>
          <a:prstGeom prst="rect">
            <a:avLst/>
          </a:prstGeom>
          <a:noFill/>
          <a:ln/>
        </p:spPr>
        <p:txBody>
          <a:bodyPr wrap="square" lIns="0" tIns="0" rIns="0" bIns="0" rtlCol="0" anchor="ctr"/>
          <a:lstStyle/>
          <a:p>
            <a:pPr indent="0" marL="0">
              <a:buNone/>
            </a:pPr>
            <a:r>
              <a:rPr lang="en-US" sz="1500" dirty="0">
                <a:solidFill>
                  <a:srgbClr val="5A6B7A"/>
                </a:solidFill>
                <a:latin typeface="Calibri" pitchFamily="34" charset="0"/>
                <a:ea typeface="Calibri" pitchFamily="34" charset="-122"/>
                <a:cs typeface="Calibri" pitchFamily="34" charset="-120"/>
              </a:rPr>
              <a:t>Original trial fixed Sonnet + Opus. We label every result and never mix model pairs in one funnel.</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40080"/>
          </a:xfrm>
          <a:prstGeom prst="rect">
            <a:avLst/>
          </a:prstGeom>
          <a:noFill/>
          <a:ln/>
        </p:spPr>
        <p:txBody>
          <a:bodyPr wrap="square" lIns="0" tIns="0" rIns="0" bIns="0" rtlCol="0" anchor="ctr"/>
          <a:lstStyle/>
          <a:p>
            <a:pPr indent="0" marL="0">
              <a:buNone/>
            </a:pPr>
            <a:r>
              <a:rPr lang="en-US" sz="2800" b="1" dirty="0">
                <a:solidFill>
                  <a:srgbClr val="0F1B2A"/>
                </a:solidFill>
                <a:latin typeface="Cambria" pitchFamily="34" charset="0"/>
                <a:ea typeface="Cambria" pitchFamily="34" charset="-122"/>
                <a:cs typeface="Cambria" pitchFamily="34" charset="-120"/>
              </a:rPr>
              <a:t>The pool is bimodal. Most tasks miss the band.</a:t>
            </a:r>
            <a:endParaRPr lang="en-US" sz="2800" dirty="0"/>
          </a:p>
        </p:txBody>
      </p:sp>
      <p:graphicFrame>
        <p:nvGraphicFramePr>
          <p:cNvPr id="3" name="Chart 0" descr=""/>
          <p:cNvGraphicFramePr/>
          <p:nvPr/>
        </p:nvGraphicFramePr>
        <p:xfrm>
          <a:off x="365760" y="1051560"/>
          <a:ext cx="4937760" cy="338328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5532120" y="1097280"/>
            <a:ext cx="3154680" cy="786384"/>
          </a:xfrm>
          <a:prstGeom prst="roundRect">
            <a:avLst>
              <a:gd name="adj" fmla="val 9302"/>
            </a:avLst>
          </a:prstGeom>
          <a:solidFill>
            <a:srgbClr val="F3F7F6"/>
          </a:solidFill>
          <a:ln w="12700">
            <a:solidFill>
              <a:srgbClr val="F3F7F6"/>
            </a:solidFill>
            <a:prstDash val="solid"/>
          </a:ln>
        </p:spPr>
      </p:sp>
      <p:sp>
        <p:nvSpPr>
          <p:cNvPr id="5" name="Text 2"/>
          <p:cNvSpPr txBox="1"/>
          <p:nvPr/>
        </p:nvSpPr>
        <p:spPr>
          <a:xfrm>
            <a:off x="5669280" y="1152144"/>
            <a:ext cx="2880360" cy="384048"/>
          </a:xfrm>
          <a:prstGeom prst="rect">
            <a:avLst/>
          </a:prstGeom>
          <a:noFill/>
          <a:ln/>
        </p:spPr>
        <p:txBody>
          <a:bodyPr wrap="square" lIns="0" tIns="0" rIns="0" bIns="0" rtlCol="0" anchor="ctr"/>
          <a:lstStyle/>
          <a:p>
            <a:pPr indent="0" marL="0">
              <a:buNone/>
            </a:pPr>
            <a:r>
              <a:rPr lang="en-US" sz="1900" b="1" dirty="0">
                <a:solidFill>
                  <a:srgbClr val="2A9D8F"/>
                </a:solidFill>
                <a:latin typeface="Cambria" pitchFamily="34" charset="0"/>
                <a:ea typeface="Cambria" pitchFamily="34" charset="-122"/>
                <a:cs typeface="Cambria" pitchFamily="34" charset="-120"/>
              </a:rPr>
              <a:t>17 / 22</a:t>
            </a:r>
            <a:endParaRPr lang="en-US" sz="1900" dirty="0"/>
          </a:p>
        </p:txBody>
      </p:sp>
      <p:sp>
        <p:nvSpPr>
          <p:cNvPr id="6" name="Text 3"/>
          <p:cNvSpPr txBox="1"/>
          <p:nvPr/>
        </p:nvSpPr>
        <p:spPr>
          <a:xfrm>
            <a:off x="5669280" y="1527048"/>
            <a:ext cx="2880360" cy="292608"/>
          </a:xfrm>
          <a:prstGeom prst="rect">
            <a:avLst/>
          </a:prstGeom>
          <a:noFill/>
          <a:ln/>
        </p:spPr>
        <p:txBody>
          <a:bodyPr wrap="square" lIns="0" tIns="0" rIns="0" bIns="0" rtlCol="0" anchor="ctr"/>
          <a:lstStyle/>
          <a:p>
            <a:pPr indent="0" marL="0">
              <a:buNone/>
            </a:pPr>
            <a:r>
              <a:rPr lang="en-US" sz="1200" dirty="0">
                <a:solidFill>
                  <a:srgbClr val="5A6B7A"/>
                </a:solidFill>
                <a:latin typeface="Calibri" pitchFamily="34" charset="0"/>
                <a:ea typeface="Calibri" pitchFamily="34" charset="-122"/>
                <a:cs typeface="Calibri" pitchFamily="34" charset="-120"/>
              </a:rPr>
              <a:t>verdicts / candidate records</a:t>
            </a:r>
            <a:endParaRPr lang="en-US" sz="1200" dirty="0"/>
          </a:p>
        </p:txBody>
      </p:sp>
      <p:sp>
        <p:nvSpPr>
          <p:cNvPr id="7" name="Shape 4"/>
          <p:cNvSpPr/>
          <p:nvPr/>
        </p:nvSpPr>
        <p:spPr>
          <a:xfrm>
            <a:off x="5532120" y="1965960"/>
            <a:ext cx="3154680" cy="786384"/>
          </a:xfrm>
          <a:prstGeom prst="roundRect">
            <a:avLst>
              <a:gd name="adj" fmla="val 9302"/>
            </a:avLst>
          </a:prstGeom>
          <a:solidFill>
            <a:srgbClr val="F3F7F6"/>
          </a:solidFill>
          <a:ln w="12700">
            <a:solidFill>
              <a:srgbClr val="F3F7F6"/>
            </a:solidFill>
            <a:prstDash val="solid"/>
          </a:ln>
        </p:spPr>
      </p:sp>
      <p:sp>
        <p:nvSpPr>
          <p:cNvPr id="8" name="Text 5"/>
          <p:cNvSpPr txBox="1"/>
          <p:nvPr/>
        </p:nvSpPr>
        <p:spPr>
          <a:xfrm>
            <a:off x="5669280" y="2020824"/>
            <a:ext cx="2880360" cy="384048"/>
          </a:xfrm>
          <a:prstGeom prst="rect">
            <a:avLst/>
          </a:prstGeom>
          <a:noFill/>
          <a:ln/>
        </p:spPr>
        <p:txBody>
          <a:bodyPr wrap="square" lIns="0" tIns="0" rIns="0" bIns="0" rtlCol="0" anchor="ctr"/>
          <a:lstStyle/>
          <a:p>
            <a:pPr indent="0" marL="0">
              <a:buNone/>
            </a:pPr>
            <a:r>
              <a:rPr lang="en-US" sz="1900" b="1" dirty="0">
                <a:solidFill>
                  <a:srgbClr val="2A9D8F"/>
                </a:solidFill>
                <a:latin typeface="Cambria" pitchFamily="34" charset="0"/>
                <a:ea typeface="Cambria" pitchFamily="34" charset="-122"/>
                <a:cs typeface="Cambria" pitchFamily="34" charset="-120"/>
              </a:rPr>
              <a:t>12 / 10</a:t>
            </a:r>
            <a:endParaRPr lang="en-US" sz="1900" dirty="0"/>
          </a:p>
        </p:txBody>
      </p:sp>
      <p:sp>
        <p:nvSpPr>
          <p:cNvPr id="9" name="Text 6"/>
          <p:cNvSpPr txBox="1"/>
          <p:nvPr/>
        </p:nvSpPr>
        <p:spPr>
          <a:xfrm>
            <a:off x="5669280" y="2395728"/>
            <a:ext cx="2880360" cy="292608"/>
          </a:xfrm>
          <a:prstGeom prst="rect">
            <a:avLst/>
          </a:prstGeom>
          <a:noFill/>
          <a:ln/>
        </p:spPr>
        <p:txBody>
          <a:bodyPr wrap="square" lIns="0" tIns="0" rIns="0" bIns="0" rtlCol="0" anchor="ctr"/>
          <a:lstStyle/>
          <a:p>
            <a:pPr indent="0" marL="0">
              <a:buNone/>
            </a:pPr>
            <a:r>
              <a:rPr lang="en-US" sz="1200" dirty="0">
                <a:solidFill>
                  <a:srgbClr val="5A6B7A"/>
                </a:solidFill>
                <a:latin typeface="Calibri" pitchFamily="34" charset="0"/>
                <a:ea typeface="Calibri" pitchFamily="34" charset="-122"/>
                <a:cs typeface="Calibri" pitchFamily="34" charset="-120"/>
              </a:rPr>
              <a:t>fresh / reused</a:t>
            </a:r>
            <a:endParaRPr lang="en-US" sz="1200" dirty="0"/>
          </a:p>
        </p:txBody>
      </p:sp>
      <p:sp>
        <p:nvSpPr>
          <p:cNvPr id="10" name="Shape 7"/>
          <p:cNvSpPr/>
          <p:nvPr/>
        </p:nvSpPr>
        <p:spPr>
          <a:xfrm>
            <a:off x="5532120" y="2834640"/>
            <a:ext cx="3154680" cy="786384"/>
          </a:xfrm>
          <a:prstGeom prst="roundRect">
            <a:avLst>
              <a:gd name="adj" fmla="val 9302"/>
            </a:avLst>
          </a:prstGeom>
          <a:solidFill>
            <a:srgbClr val="F3F7F6"/>
          </a:solidFill>
          <a:ln w="12700">
            <a:solidFill>
              <a:srgbClr val="F3F7F6"/>
            </a:solidFill>
            <a:prstDash val="solid"/>
          </a:ln>
        </p:spPr>
      </p:sp>
      <p:sp>
        <p:nvSpPr>
          <p:cNvPr id="11" name="Text 8"/>
          <p:cNvSpPr txBox="1"/>
          <p:nvPr/>
        </p:nvSpPr>
        <p:spPr>
          <a:xfrm>
            <a:off x="5669280" y="2889504"/>
            <a:ext cx="2880360" cy="384048"/>
          </a:xfrm>
          <a:prstGeom prst="rect">
            <a:avLst/>
          </a:prstGeom>
          <a:noFill/>
          <a:ln/>
        </p:spPr>
        <p:txBody>
          <a:bodyPr wrap="square" lIns="0" tIns="0" rIns="0" bIns="0" rtlCol="0" anchor="ctr"/>
          <a:lstStyle/>
          <a:p>
            <a:pPr indent="0" marL="0">
              <a:buNone/>
            </a:pPr>
            <a:r>
              <a:rPr lang="en-US" sz="1900" b="1" dirty="0">
                <a:solidFill>
                  <a:srgbClr val="2A9D8F"/>
                </a:solidFill>
                <a:latin typeface="Cambria" pitchFamily="34" charset="0"/>
                <a:ea typeface="Cambria" pitchFamily="34" charset="-122"/>
                <a:cs typeface="Cambria" pitchFamily="34" charset="-120"/>
              </a:rPr>
              <a:t>2</a:t>
            </a:r>
            <a:endParaRPr lang="en-US" sz="1900" dirty="0"/>
          </a:p>
        </p:txBody>
      </p:sp>
      <p:sp>
        <p:nvSpPr>
          <p:cNvPr id="12" name="Text 9"/>
          <p:cNvSpPr txBox="1"/>
          <p:nvPr/>
        </p:nvSpPr>
        <p:spPr>
          <a:xfrm>
            <a:off x="5669280" y="3264408"/>
            <a:ext cx="2880360" cy="292608"/>
          </a:xfrm>
          <a:prstGeom prst="rect">
            <a:avLst/>
          </a:prstGeom>
          <a:noFill/>
          <a:ln/>
        </p:spPr>
        <p:txBody>
          <a:bodyPr wrap="square" lIns="0" tIns="0" rIns="0" bIns="0" rtlCol="0" anchor="ctr"/>
          <a:lstStyle/>
          <a:p>
            <a:pPr indent="0" marL="0">
              <a:buNone/>
            </a:pPr>
            <a:r>
              <a:rPr lang="en-US" sz="1200" dirty="0">
                <a:solidFill>
                  <a:srgbClr val="5A6B7A"/>
                </a:solidFill>
                <a:latin typeface="Calibri" pitchFamily="34" charset="0"/>
                <a:ea typeface="Calibri" pitchFamily="34" charset="-122"/>
                <a:cs typeface="Calibri" pitchFamily="34" charset="-120"/>
              </a:rPr>
              <a:t>in band, full 5-attempt record</a:t>
            </a:r>
            <a:endParaRPr lang="en-US" sz="1200" dirty="0"/>
          </a:p>
        </p:txBody>
      </p:sp>
      <p:sp>
        <p:nvSpPr>
          <p:cNvPr id="13" name="Shape 10"/>
          <p:cNvSpPr/>
          <p:nvPr/>
        </p:nvSpPr>
        <p:spPr>
          <a:xfrm>
            <a:off x="5532120" y="3703320"/>
            <a:ext cx="3154680" cy="786384"/>
          </a:xfrm>
          <a:prstGeom prst="roundRect">
            <a:avLst>
              <a:gd name="adj" fmla="val 9302"/>
            </a:avLst>
          </a:prstGeom>
          <a:solidFill>
            <a:srgbClr val="F3F7F6"/>
          </a:solidFill>
          <a:ln w="12700">
            <a:solidFill>
              <a:srgbClr val="F3F7F6"/>
            </a:solidFill>
            <a:prstDash val="solid"/>
          </a:ln>
        </p:spPr>
      </p:sp>
      <p:sp>
        <p:nvSpPr>
          <p:cNvPr id="14" name="Text 11"/>
          <p:cNvSpPr txBox="1"/>
          <p:nvPr/>
        </p:nvSpPr>
        <p:spPr>
          <a:xfrm>
            <a:off x="5669280" y="3758184"/>
            <a:ext cx="2880360" cy="384048"/>
          </a:xfrm>
          <a:prstGeom prst="rect">
            <a:avLst/>
          </a:prstGeom>
          <a:noFill/>
          <a:ln/>
        </p:spPr>
        <p:txBody>
          <a:bodyPr wrap="square" lIns="0" tIns="0" rIns="0" bIns="0" rtlCol="0" anchor="ctr"/>
          <a:lstStyle/>
          <a:p>
            <a:pPr indent="0" marL="0">
              <a:buNone/>
            </a:pPr>
            <a:r>
              <a:rPr lang="en-US" sz="1900" b="1" dirty="0">
                <a:solidFill>
                  <a:srgbClr val="2A9D8F"/>
                </a:solidFill>
                <a:latin typeface="Cambria" pitchFamily="34" charset="0"/>
                <a:ea typeface="Cambria" pitchFamily="34" charset="-122"/>
                <a:cs typeface="Cambria" pitchFamily="34" charset="-120"/>
              </a:rPr>
              <a:t>1</a:t>
            </a:r>
            <a:endParaRPr lang="en-US" sz="1900" dirty="0"/>
          </a:p>
        </p:txBody>
      </p:sp>
      <p:sp>
        <p:nvSpPr>
          <p:cNvPr id="15" name="Text 12"/>
          <p:cNvSpPr txBox="1"/>
          <p:nvPr/>
        </p:nvSpPr>
        <p:spPr>
          <a:xfrm>
            <a:off x="5669280" y="4133088"/>
            <a:ext cx="2880360" cy="292608"/>
          </a:xfrm>
          <a:prstGeom prst="rect">
            <a:avLst/>
          </a:prstGeom>
          <a:noFill/>
          <a:ln/>
        </p:spPr>
        <p:txBody>
          <a:bodyPr wrap="square" lIns="0" tIns="0" rIns="0" bIns="0" rtlCol="0" anchor="ctr"/>
          <a:lstStyle/>
          <a:p>
            <a:pPr indent="0" marL="0">
              <a:buNone/>
            </a:pPr>
            <a:r>
              <a:rPr lang="en-US" sz="1200" dirty="0">
                <a:solidFill>
                  <a:srgbClr val="5A6B7A"/>
                </a:solidFill>
                <a:latin typeface="Calibri" pitchFamily="34" charset="0"/>
                <a:ea typeface="Calibri" pitchFamily="34" charset="-122"/>
                <a:cs typeface="Calibri" pitchFamily="34" charset="-120"/>
              </a:rPr>
              <a:t>approved after audit</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40080"/>
          </a:xfrm>
          <a:prstGeom prst="rect">
            <a:avLst/>
          </a:prstGeom>
          <a:noFill/>
          <a:ln/>
        </p:spPr>
        <p:txBody>
          <a:bodyPr wrap="square" lIns="0" tIns="0" rIns="0" bIns="0" rtlCol="0" anchor="ctr"/>
          <a:lstStyle/>
          <a:p>
            <a:pPr indent="0" marL="0">
              <a:buNone/>
            </a:pPr>
            <a:r>
              <a:rPr lang="en-US" sz="2800" b="1" dirty="0">
                <a:solidFill>
                  <a:srgbClr val="0F1B2A"/>
                </a:solidFill>
                <a:latin typeface="Cambria" pitchFamily="34" charset="0"/>
                <a:ea typeface="Cambria" pitchFamily="34" charset="-122"/>
                <a:cs typeface="Cambria" pitchFamily="34" charset="-120"/>
              </a:rPr>
              <a:t>The audit rejected four previously 'shipped' tasks</a:t>
            </a:r>
            <a:endParaRPr lang="en-US" sz="2800" dirty="0"/>
          </a:p>
        </p:txBody>
      </p:sp>
      <p:sp>
        <p:nvSpPr>
          <p:cNvPr id="3" name="Shape 1"/>
          <p:cNvSpPr/>
          <p:nvPr/>
        </p:nvSpPr>
        <p:spPr>
          <a:xfrm>
            <a:off x="457200" y="1143000"/>
            <a:ext cx="4114800" cy="1371600"/>
          </a:xfrm>
          <a:prstGeom prst="roundRect">
            <a:avLst>
              <a:gd name="adj" fmla="val 5333"/>
            </a:avLst>
          </a:prstGeom>
          <a:solidFill>
            <a:srgbClr val="F3F7F6"/>
          </a:solidFill>
          <a:ln w="12700">
            <a:solidFill>
              <a:srgbClr val="F3F7F6"/>
            </a:solidFill>
            <a:prstDash val="solid"/>
          </a:ln>
        </p:spPr>
      </p:sp>
      <p:sp>
        <p:nvSpPr>
          <p:cNvPr id="4" name="Text 2"/>
          <p:cNvSpPr txBox="1"/>
          <p:nvPr/>
        </p:nvSpPr>
        <p:spPr>
          <a:xfrm>
            <a:off x="685800" y="1371600"/>
            <a:ext cx="914400" cy="411480"/>
          </a:xfrm>
          <a:prstGeom prst="rect">
            <a:avLst/>
          </a:prstGeom>
          <a:noFill/>
          <a:ln/>
        </p:spPr>
        <p:txBody>
          <a:bodyPr wrap="square" lIns="0" tIns="0" rIns="0" bIns="0" rtlCol="0" anchor="ctr"/>
          <a:lstStyle/>
          <a:p>
            <a:pPr indent="0" marL="0">
              <a:buNone/>
            </a:pPr>
            <a:r>
              <a:rPr lang="en-US" sz="1800" b="1" dirty="0">
                <a:solidFill>
                  <a:srgbClr val="2A9D8F"/>
                </a:solidFill>
                <a:latin typeface="Cambria" pitchFamily="34" charset="0"/>
                <a:ea typeface="Cambria" pitchFamily="34" charset="-122"/>
                <a:cs typeface="Cambria" pitchFamily="34" charset="-120"/>
              </a:rPr>
              <a:t>01</a:t>
            </a:r>
            <a:endParaRPr lang="en-US" sz="1800" dirty="0"/>
          </a:p>
        </p:txBody>
      </p:sp>
      <p:sp>
        <p:nvSpPr>
          <p:cNvPr id="5" name="Text 3"/>
          <p:cNvSpPr txBox="1"/>
          <p:nvPr/>
        </p:nvSpPr>
        <p:spPr>
          <a:xfrm>
            <a:off x="685800" y="1828800"/>
            <a:ext cx="3657600" cy="502920"/>
          </a:xfrm>
          <a:prstGeom prst="rect">
            <a:avLst/>
          </a:prstGeom>
          <a:noFill/>
          <a:ln/>
        </p:spPr>
        <p:txBody>
          <a:bodyPr wrap="square" lIns="0" tIns="0" rIns="0" bIns="0" rtlCol="0" anchor="ctr"/>
          <a:lstStyle/>
          <a:p>
            <a:pPr indent="0" marL="0">
              <a:buNone/>
            </a:pPr>
            <a:r>
              <a:rPr lang="en-US" sz="1500" dirty="0">
                <a:solidFill>
                  <a:srgbClr val="0F1B2A"/>
                </a:solidFill>
                <a:latin typeface="Calibri" pitchFamily="34" charset="0"/>
                <a:ea typeface="Calibri" pitchFamily="34" charset="-122"/>
                <a:cs typeface="Calibri" pitchFamily="34" charset="-120"/>
              </a:rPr>
              <a:t>No hash-bound calibration inside the package</a:t>
            </a:r>
            <a:endParaRPr lang="en-US" sz="1500" dirty="0"/>
          </a:p>
        </p:txBody>
      </p:sp>
      <p:sp>
        <p:nvSpPr>
          <p:cNvPr id="6" name="Shape 4"/>
          <p:cNvSpPr/>
          <p:nvPr/>
        </p:nvSpPr>
        <p:spPr>
          <a:xfrm>
            <a:off x="4754880" y="1143000"/>
            <a:ext cx="4114800" cy="1371600"/>
          </a:xfrm>
          <a:prstGeom prst="roundRect">
            <a:avLst>
              <a:gd name="adj" fmla="val 5333"/>
            </a:avLst>
          </a:prstGeom>
          <a:solidFill>
            <a:srgbClr val="F3F7F6"/>
          </a:solidFill>
          <a:ln w="12700">
            <a:solidFill>
              <a:srgbClr val="F3F7F6"/>
            </a:solidFill>
            <a:prstDash val="solid"/>
          </a:ln>
        </p:spPr>
      </p:sp>
      <p:sp>
        <p:nvSpPr>
          <p:cNvPr id="7" name="Text 5"/>
          <p:cNvSpPr txBox="1"/>
          <p:nvPr/>
        </p:nvSpPr>
        <p:spPr>
          <a:xfrm>
            <a:off x="4983480" y="1371600"/>
            <a:ext cx="914400" cy="411480"/>
          </a:xfrm>
          <a:prstGeom prst="rect">
            <a:avLst/>
          </a:prstGeom>
          <a:noFill/>
          <a:ln/>
        </p:spPr>
        <p:txBody>
          <a:bodyPr wrap="square" lIns="0" tIns="0" rIns="0" bIns="0" rtlCol="0" anchor="ctr"/>
          <a:lstStyle/>
          <a:p>
            <a:pPr indent="0" marL="0">
              <a:buNone/>
            </a:pPr>
            <a:r>
              <a:rPr lang="en-US" sz="1800" b="1" dirty="0">
                <a:solidFill>
                  <a:srgbClr val="2A9D8F"/>
                </a:solidFill>
                <a:latin typeface="Cambria" pitchFamily="34" charset="0"/>
                <a:ea typeface="Cambria" pitchFamily="34" charset="-122"/>
                <a:cs typeface="Cambria" pitchFamily="34" charset="-120"/>
              </a:rPr>
              <a:t>02</a:t>
            </a:r>
            <a:endParaRPr lang="en-US" sz="1800" dirty="0"/>
          </a:p>
        </p:txBody>
      </p:sp>
      <p:sp>
        <p:nvSpPr>
          <p:cNvPr id="8" name="Text 6"/>
          <p:cNvSpPr txBox="1"/>
          <p:nvPr/>
        </p:nvSpPr>
        <p:spPr>
          <a:xfrm>
            <a:off x="4983480" y="1828800"/>
            <a:ext cx="3657600" cy="502920"/>
          </a:xfrm>
          <a:prstGeom prst="rect">
            <a:avLst/>
          </a:prstGeom>
          <a:noFill/>
          <a:ln/>
        </p:spPr>
        <p:txBody>
          <a:bodyPr wrap="square" lIns="0" tIns="0" rIns="0" bIns="0" rtlCol="0" anchor="ctr"/>
          <a:lstStyle/>
          <a:p>
            <a:pPr indent="0" marL="0">
              <a:buNone/>
            </a:pPr>
            <a:r>
              <a:rPr lang="en-US" sz="1500" dirty="0">
                <a:solidFill>
                  <a:srgbClr val="0F1B2A"/>
                </a:solidFill>
                <a:latin typeface="Calibri" pitchFamily="34" charset="0"/>
                <a:ea typeface="Calibri" pitchFamily="34" charset="-122"/>
                <a:cs typeface="Calibri" pitchFamily="34" charset="-120"/>
              </a:rPr>
              <a:t>One shipped on a single judged pass, not 1-3/5</a:t>
            </a:r>
            <a:endParaRPr lang="en-US" sz="1500" dirty="0"/>
          </a:p>
        </p:txBody>
      </p:sp>
      <p:sp>
        <p:nvSpPr>
          <p:cNvPr id="9" name="Shape 7"/>
          <p:cNvSpPr/>
          <p:nvPr/>
        </p:nvSpPr>
        <p:spPr>
          <a:xfrm>
            <a:off x="457200" y="2697480"/>
            <a:ext cx="4114800" cy="1371600"/>
          </a:xfrm>
          <a:prstGeom prst="roundRect">
            <a:avLst>
              <a:gd name="adj" fmla="val 5333"/>
            </a:avLst>
          </a:prstGeom>
          <a:solidFill>
            <a:srgbClr val="F3F7F6"/>
          </a:solidFill>
          <a:ln w="12700">
            <a:solidFill>
              <a:srgbClr val="F3F7F6"/>
            </a:solidFill>
            <a:prstDash val="solid"/>
          </a:ln>
        </p:spPr>
      </p:sp>
      <p:sp>
        <p:nvSpPr>
          <p:cNvPr id="10" name="Text 8"/>
          <p:cNvSpPr txBox="1"/>
          <p:nvPr/>
        </p:nvSpPr>
        <p:spPr>
          <a:xfrm>
            <a:off x="685800" y="2926080"/>
            <a:ext cx="914400" cy="411480"/>
          </a:xfrm>
          <a:prstGeom prst="rect">
            <a:avLst/>
          </a:prstGeom>
          <a:noFill/>
          <a:ln/>
        </p:spPr>
        <p:txBody>
          <a:bodyPr wrap="square" lIns="0" tIns="0" rIns="0" bIns="0" rtlCol="0" anchor="ctr"/>
          <a:lstStyle/>
          <a:p>
            <a:pPr indent="0" marL="0">
              <a:buNone/>
            </a:pPr>
            <a:r>
              <a:rPr lang="en-US" sz="1800" b="1" dirty="0">
                <a:solidFill>
                  <a:srgbClr val="2A9D8F"/>
                </a:solidFill>
                <a:latin typeface="Cambria" pitchFamily="34" charset="0"/>
                <a:ea typeface="Cambria" pitchFamily="34" charset="-122"/>
                <a:cs typeface="Cambria" pitchFamily="34" charset="-120"/>
              </a:rPr>
              <a:t>03</a:t>
            </a:r>
            <a:endParaRPr lang="en-US" sz="1800" dirty="0"/>
          </a:p>
        </p:txBody>
      </p:sp>
      <p:sp>
        <p:nvSpPr>
          <p:cNvPr id="11" name="Text 9"/>
          <p:cNvSpPr txBox="1"/>
          <p:nvPr/>
        </p:nvSpPr>
        <p:spPr>
          <a:xfrm>
            <a:off x="685800" y="3383280"/>
            <a:ext cx="3657600" cy="502920"/>
          </a:xfrm>
          <a:prstGeom prst="rect">
            <a:avLst/>
          </a:prstGeom>
          <a:noFill/>
          <a:ln/>
        </p:spPr>
        <p:txBody>
          <a:bodyPr wrap="square" lIns="0" tIns="0" rIns="0" bIns="0" rtlCol="0" anchor="ctr"/>
          <a:lstStyle/>
          <a:p>
            <a:pPr indent="0" marL="0">
              <a:buNone/>
            </a:pPr>
            <a:r>
              <a:rPr lang="en-US" sz="1500" dirty="0">
                <a:solidFill>
                  <a:srgbClr val="0F1B2A"/>
                </a:solidFill>
                <a:latin typeface="Calibri" pitchFamily="34" charset="0"/>
                <a:ea typeface="Calibri" pitchFamily="34" charset="-122"/>
                <a:cs typeface="Calibri" pitchFamily="34" charset="-120"/>
              </a:rPr>
              <a:t>Stale READMEs citing ids that never existed</a:t>
            </a:r>
            <a:endParaRPr lang="en-US" sz="1500" dirty="0"/>
          </a:p>
        </p:txBody>
      </p:sp>
      <p:sp>
        <p:nvSpPr>
          <p:cNvPr id="12" name="Shape 10"/>
          <p:cNvSpPr/>
          <p:nvPr/>
        </p:nvSpPr>
        <p:spPr>
          <a:xfrm>
            <a:off x="4754880" y="2697480"/>
            <a:ext cx="4114800" cy="1371600"/>
          </a:xfrm>
          <a:prstGeom prst="roundRect">
            <a:avLst>
              <a:gd name="adj" fmla="val 5333"/>
            </a:avLst>
          </a:prstGeom>
          <a:solidFill>
            <a:srgbClr val="F3F7F6"/>
          </a:solidFill>
          <a:ln w="12700">
            <a:solidFill>
              <a:srgbClr val="F3F7F6"/>
            </a:solidFill>
            <a:prstDash val="solid"/>
          </a:ln>
        </p:spPr>
      </p:sp>
      <p:sp>
        <p:nvSpPr>
          <p:cNvPr id="13" name="Text 11"/>
          <p:cNvSpPr txBox="1"/>
          <p:nvPr/>
        </p:nvSpPr>
        <p:spPr>
          <a:xfrm>
            <a:off x="4983480" y="2926080"/>
            <a:ext cx="914400" cy="411480"/>
          </a:xfrm>
          <a:prstGeom prst="rect">
            <a:avLst/>
          </a:prstGeom>
          <a:noFill/>
          <a:ln/>
        </p:spPr>
        <p:txBody>
          <a:bodyPr wrap="square" lIns="0" tIns="0" rIns="0" bIns="0" rtlCol="0" anchor="ctr"/>
          <a:lstStyle/>
          <a:p>
            <a:pPr indent="0" marL="0">
              <a:buNone/>
            </a:pPr>
            <a:r>
              <a:rPr lang="en-US" sz="1800" b="1" dirty="0">
                <a:solidFill>
                  <a:srgbClr val="2A9D8F"/>
                </a:solidFill>
                <a:latin typeface="Cambria" pitchFamily="34" charset="0"/>
                <a:ea typeface="Cambria" pitchFamily="34" charset="-122"/>
                <a:cs typeface="Cambria" pitchFamily="34" charset="-120"/>
              </a:rPr>
              <a:t>04</a:t>
            </a:r>
            <a:endParaRPr lang="en-US" sz="1800" dirty="0"/>
          </a:p>
        </p:txBody>
      </p:sp>
      <p:sp>
        <p:nvSpPr>
          <p:cNvPr id="14" name="Text 12"/>
          <p:cNvSpPr txBox="1"/>
          <p:nvPr/>
        </p:nvSpPr>
        <p:spPr>
          <a:xfrm>
            <a:off x="4983480" y="3383280"/>
            <a:ext cx="3657600" cy="502920"/>
          </a:xfrm>
          <a:prstGeom prst="rect">
            <a:avLst/>
          </a:prstGeom>
          <a:noFill/>
          <a:ln/>
        </p:spPr>
        <p:txBody>
          <a:bodyPr wrap="square" lIns="0" tIns="0" rIns="0" bIns="0" rtlCol="0" anchor="ctr"/>
          <a:lstStyle/>
          <a:p>
            <a:pPr indent="0" marL="0">
              <a:buNone/>
            </a:pPr>
            <a:r>
              <a:rPr lang="en-US" sz="1500" dirty="0">
                <a:solidFill>
                  <a:srgbClr val="0F1B2A"/>
                </a:solidFill>
                <a:latin typeface="Calibri" pitchFamily="34" charset="0"/>
                <a:ea typeface="Calibri" pitchFamily="34" charset="-122"/>
                <a:cs typeface="Calibri" pitchFamily="34" charset="-120"/>
              </a:rPr>
              <a:t>A directory is not approval. They were archived, not deleted.</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40080"/>
          </a:xfrm>
          <a:prstGeom prst="rect">
            <a:avLst/>
          </a:prstGeom>
          <a:noFill/>
          <a:ln/>
        </p:spPr>
        <p:txBody>
          <a:bodyPr wrap="square" lIns="0" tIns="0" rIns="0" bIns="0" rtlCol="0" anchor="ctr"/>
          <a:lstStyle/>
          <a:p>
            <a:pPr indent="0" marL="0">
              <a:buNone/>
            </a:pPr>
            <a:r>
              <a:rPr lang="en-US" sz="2800" b="1" dirty="0">
                <a:solidFill>
                  <a:srgbClr val="0F1B2A"/>
                </a:solidFill>
                <a:latin typeface="Cambria" pitchFamily="34" charset="0"/>
                <a:ea typeface="Cambria" pitchFamily="34" charset="-122"/>
                <a:cs typeface="Cambria" pitchFamily="34" charset="-120"/>
              </a:rPr>
              <a:t>One task approved: optimize-policy-decision-audit</a:t>
            </a:r>
            <a:endParaRPr lang="en-US" sz="2800" dirty="0"/>
          </a:p>
        </p:txBody>
      </p:sp>
      <p:sp>
        <p:nvSpPr>
          <p:cNvPr id="3" name="Shape 1"/>
          <p:cNvSpPr/>
          <p:nvPr/>
        </p:nvSpPr>
        <p:spPr>
          <a:xfrm>
            <a:off x="457200" y="1097280"/>
            <a:ext cx="1554480" cy="1554480"/>
          </a:xfrm>
          <a:prstGeom prst="roundRect">
            <a:avLst>
              <a:gd name="adj" fmla="val 4706"/>
            </a:avLst>
          </a:prstGeom>
          <a:solidFill>
            <a:srgbClr val="2A9D8F"/>
          </a:solidFill>
          <a:ln w="12700">
            <a:solidFill>
              <a:srgbClr val="2A9D8F"/>
            </a:solidFill>
            <a:prstDash val="solid"/>
          </a:ln>
        </p:spPr>
      </p:sp>
      <p:sp>
        <p:nvSpPr>
          <p:cNvPr id="4" name="Text 2"/>
          <p:cNvSpPr txBox="1"/>
          <p:nvPr/>
        </p:nvSpPr>
        <p:spPr>
          <a:xfrm>
            <a:off x="457200" y="1325880"/>
            <a:ext cx="15544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PASS</a:t>
            </a:r>
            <a:endParaRPr lang="en-US" sz="2200" dirty="0"/>
          </a:p>
        </p:txBody>
      </p:sp>
      <p:sp>
        <p:nvSpPr>
          <p:cNvPr id="5" name="Text 3"/>
          <p:cNvSpPr txBox="1"/>
          <p:nvPr/>
        </p:nvSpPr>
        <p:spPr>
          <a:xfrm>
            <a:off x="457200" y="2011680"/>
            <a:ext cx="1554480" cy="36576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#1</a:t>
            </a:r>
            <a:endParaRPr lang="en-US" sz="1300" dirty="0"/>
          </a:p>
        </p:txBody>
      </p:sp>
      <p:sp>
        <p:nvSpPr>
          <p:cNvPr id="6" name="Shape 4"/>
          <p:cNvSpPr/>
          <p:nvPr/>
        </p:nvSpPr>
        <p:spPr>
          <a:xfrm>
            <a:off x="2148840" y="1097280"/>
            <a:ext cx="1554480" cy="1554480"/>
          </a:xfrm>
          <a:prstGeom prst="roundRect">
            <a:avLst>
              <a:gd name="adj" fmla="val 4706"/>
            </a:avLst>
          </a:prstGeom>
          <a:solidFill>
            <a:srgbClr val="2A9D8F"/>
          </a:solidFill>
          <a:ln w="12700">
            <a:solidFill>
              <a:srgbClr val="2A9D8F"/>
            </a:solidFill>
            <a:prstDash val="solid"/>
          </a:ln>
        </p:spPr>
      </p:sp>
      <p:sp>
        <p:nvSpPr>
          <p:cNvPr id="7" name="Text 5"/>
          <p:cNvSpPr txBox="1"/>
          <p:nvPr/>
        </p:nvSpPr>
        <p:spPr>
          <a:xfrm>
            <a:off x="2148840" y="1325880"/>
            <a:ext cx="15544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PASS</a:t>
            </a:r>
            <a:endParaRPr lang="en-US" sz="2200" dirty="0"/>
          </a:p>
        </p:txBody>
      </p:sp>
      <p:sp>
        <p:nvSpPr>
          <p:cNvPr id="8" name="Text 6"/>
          <p:cNvSpPr txBox="1"/>
          <p:nvPr/>
        </p:nvSpPr>
        <p:spPr>
          <a:xfrm>
            <a:off x="2148840" y="2011680"/>
            <a:ext cx="1554480" cy="36576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#2</a:t>
            </a:r>
            <a:endParaRPr lang="en-US" sz="1300" dirty="0"/>
          </a:p>
        </p:txBody>
      </p:sp>
      <p:sp>
        <p:nvSpPr>
          <p:cNvPr id="9" name="Shape 7"/>
          <p:cNvSpPr/>
          <p:nvPr/>
        </p:nvSpPr>
        <p:spPr>
          <a:xfrm>
            <a:off x="3840480" y="1097280"/>
            <a:ext cx="1554480" cy="1554480"/>
          </a:xfrm>
          <a:prstGeom prst="roundRect">
            <a:avLst>
              <a:gd name="adj" fmla="val 4706"/>
            </a:avLst>
          </a:prstGeom>
          <a:solidFill>
            <a:srgbClr val="2A9D8F"/>
          </a:solidFill>
          <a:ln w="12700">
            <a:solidFill>
              <a:srgbClr val="2A9D8F"/>
            </a:solidFill>
            <a:prstDash val="solid"/>
          </a:ln>
        </p:spPr>
      </p:sp>
      <p:sp>
        <p:nvSpPr>
          <p:cNvPr id="10" name="Text 8"/>
          <p:cNvSpPr txBox="1"/>
          <p:nvPr/>
        </p:nvSpPr>
        <p:spPr>
          <a:xfrm>
            <a:off x="3840480" y="1325880"/>
            <a:ext cx="15544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PASS</a:t>
            </a:r>
            <a:endParaRPr lang="en-US" sz="2200" dirty="0"/>
          </a:p>
        </p:txBody>
      </p:sp>
      <p:sp>
        <p:nvSpPr>
          <p:cNvPr id="11" name="Text 9"/>
          <p:cNvSpPr txBox="1"/>
          <p:nvPr/>
        </p:nvSpPr>
        <p:spPr>
          <a:xfrm>
            <a:off x="3840480" y="2011680"/>
            <a:ext cx="1554480" cy="36576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#3</a:t>
            </a:r>
            <a:endParaRPr lang="en-US" sz="1300" dirty="0"/>
          </a:p>
        </p:txBody>
      </p:sp>
      <p:sp>
        <p:nvSpPr>
          <p:cNvPr id="12" name="Shape 10"/>
          <p:cNvSpPr/>
          <p:nvPr/>
        </p:nvSpPr>
        <p:spPr>
          <a:xfrm>
            <a:off x="5532120" y="1097280"/>
            <a:ext cx="1554480" cy="1554480"/>
          </a:xfrm>
          <a:prstGeom prst="roundRect">
            <a:avLst>
              <a:gd name="adj" fmla="val 4706"/>
            </a:avLst>
          </a:prstGeom>
          <a:solidFill>
            <a:srgbClr val="C0392B"/>
          </a:solidFill>
          <a:ln w="12700">
            <a:solidFill>
              <a:srgbClr val="C0392B"/>
            </a:solidFill>
            <a:prstDash val="solid"/>
          </a:ln>
        </p:spPr>
      </p:sp>
      <p:sp>
        <p:nvSpPr>
          <p:cNvPr id="13" name="Text 11"/>
          <p:cNvSpPr txBox="1"/>
          <p:nvPr/>
        </p:nvSpPr>
        <p:spPr>
          <a:xfrm>
            <a:off x="5532120" y="1325880"/>
            <a:ext cx="15544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FAIL</a:t>
            </a:r>
            <a:endParaRPr lang="en-US" sz="2200" dirty="0"/>
          </a:p>
        </p:txBody>
      </p:sp>
      <p:sp>
        <p:nvSpPr>
          <p:cNvPr id="14" name="Text 12"/>
          <p:cNvSpPr txBox="1"/>
          <p:nvPr/>
        </p:nvSpPr>
        <p:spPr>
          <a:xfrm>
            <a:off x="5532120" y="2011680"/>
            <a:ext cx="1554480" cy="36576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#4</a:t>
            </a:r>
            <a:endParaRPr lang="en-US" sz="1300" dirty="0"/>
          </a:p>
        </p:txBody>
      </p:sp>
      <p:sp>
        <p:nvSpPr>
          <p:cNvPr id="15" name="Shape 13"/>
          <p:cNvSpPr/>
          <p:nvPr/>
        </p:nvSpPr>
        <p:spPr>
          <a:xfrm>
            <a:off x="7223760" y="1097280"/>
            <a:ext cx="1554480" cy="1554480"/>
          </a:xfrm>
          <a:prstGeom prst="roundRect">
            <a:avLst>
              <a:gd name="adj" fmla="val 4706"/>
            </a:avLst>
          </a:prstGeom>
          <a:solidFill>
            <a:srgbClr val="C0392B"/>
          </a:solidFill>
          <a:ln w="12700">
            <a:solidFill>
              <a:srgbClr val="C0392B"/>
            </a:solidFill>
            <a:prstDash val="solid"/>
          </a:ln>
        </p:spPr>
      </p:sp>
      <p:sp>
        <p:nvSpPr>
          <p:cNvPr id="16" name="Text 14"/>
          <p:cNvSpPr txBox="1"/>
          <p:nvPr/>
        </p:nvSpPr>
        <p:spPr>
          <a:xfrm>
            <a:off x="7223760" y="1325880"/>
            <a:ext cx="15544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FAIL</a:t>
            </a:r>
            <a:endParaRPr lang="en-US" sz="2200" dirty="0"/>
          </a:p>
        </p:txBody>
      </p:sp>
      <p:sp>
        <p:nvSpPr>
          <p:cNvPr id="17" name="Text 15"/>
          <p:cNvSpPr txBox="1"/>
          <p:nvPr/>
        </p:nvSpPr>
        <p:spPr>
          <a:xfrm>
            <a:off x="7223760" y="2011680"/>
            <a:ext cx="1554480" cy="36576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#5</a:t>
            </a:r>
            <a:endParaRPr lang="en-US" sz="1300" dirty="0"/>
          </a:p>
        </p:txBody>
      </p:sp>
      <p:sp>
        <p:nvSpPr>
          <p:cNvPr id="18" name="Shape 16"/>
          <p:cNvSpPr/>
          <p:nvPr/>
        </p:nvSpPr>
        <p:spPr>
          <a:xfrm>
            <a:off x="457200" y="2880360"/>
            <a:ext cx="2697480" cy="1325880"/>
          </a:xfrm>
          <a:prstGeom prst="roundRect">
            <a:avLst>
              <a:gd name="adj" fmla="val 5517"/>
            </a:avLst>
          </a:prstGeom>
          <a:solidFill>
            <a:srgbClr val="F3F7F6"/>
          </a:solidFill>
          <a:ln w="12700">
            <a:solidFill>
              <a:srgbClr val="F3F7F6"/>
            </a:solidFill>
            <a:prstDash val="solid"/>
          </a:ln>
        </p:spPr>
      </p:sp>
      <p:sp>
        <p:nvSpPr>
          <p:cNvPr id="19" name="Text 17"/>
          <p:cNvSpPr txBox="1"/>
          <p:nvPr/>
        </p:nvSpPr>
        <p:spPr>
          <a:xfrm>
            <a:off x="457200" y="3017520"/>
            <a:ext cx="2697480" cy="594360"/>
          </a:xfrm>
          <a:prstGeom prst="rect">
            <a:avLst/>
          </a:prstGeom>
          <a:noFill/>
          <a:ln/>
        </p:spPr>
        <p:txBody>
          <a:bodyPr wrap="square" lIns="0" tIns="0" rIns="0" bIns="0" rtlCol="0" anchor="ctr"/>
          <a:lstStyle/>
          <a:p>
            <a:pPr algn="ctr" indent="0" marL="0">
              <a:buNone/>
            </a:pPr>
            <a:r>
              <a:rPr lang="en-US" sz="2600" b="1" dirty="0">
                <a:solidFill>
                  <a:srgbClr val="2A9D8F"/>
                </a:solidFill>
                <a:latin typeface="Cambria" pitchFamily="34" charset="0"/>
                <a:ea typeface="Cambria" pitchFamily="34" charset="-122"/>
                <a:cs typeface="Cambria" pitchFamily="34" charset="-120"/>
              </a:rPr>
              <a:t>3 / 5</a:t>
            </a:r>
            <a:endParaRPr lang="en-US" sz="2600" dirty="0"/>
          </a:p>
        </p:txBody>
      </p:sp>
      <p:sp>
        <p:nvSpPr>
          <p:cNvPr id="20" name="Text 18"/>
          <p:cNvSpPr txBox="1"/>
          <p:nvPr/>
        </p:nvSpPr>
        <p:spPr>
          <a:xfrm>
            <a:off x="457200" y="3657600"/>
            <a:ext cx="2697480" cy="365760"/>
          </a:xfrm>
          <a:prstGeom prst="rect">
            <a:avLst/>
          </a:prstGeom>
          <a:noFill/>
          <a:ln/>
        </p:spPr>
        <p:txBody>
          <a:bodyPr wrap="square" lIns="0" tIns="0" rIns="0" bIns="0" rtlCol="0" anchor="ctr"/>
          <a:lstStyle/>
          <a:p>
            <a:pPr algn="ctr" indent="0" marL="0">
              <a:buNone/>
            </a:pPr>
            <a:r>
              <a:rPr lang="en-US" sz="1400" dirty="0">
                <a:solidFill>
                  <a:srgbClr val="5A6B7A"/>
                </a:solidFill>
                <a:latin typeface="Calibri" pitchFamily="34" charset="0"/>
                <a:ea typeface="Calibri" pitchFamily="34" charset="-122"/>
                <a:cs typeface="Calibri" pitchFamily="34" charset="-120"/>
              </a:rPr>
              <a:t>honest passes</a:t>
            </a:r>
            <a:endParaRPr lang="en-US" sz="1400" dirty="0"/>
          </a:p>
        </p:txBody>
      </p:sp>
      <p:sp>
        <p:nvSpPr>
          <p:cNvPr id="21" name="Shape 19"/>
          <p:cNvSpPr/>
          <p:nvPr/>
        </p:nvSpPr>
        <p:spPr>
          <a:xfrm>
            <a:off x="3291840" y="2880360"/>
            <a:ext cx="2697480" cy="1325880"/>
          </a:xfrm>
          <a:prstGeom prst="roundRect">
            <a:avLst>
              <a:gd name="adj" fmla="val 5517"/>
            </a:avLst>
          </a:prstGeom>
          <a:solidFill>
            <a:srgbClr val="F3F7F6"/>
          </a:solidFill>
          <a:ln w="12700">
            <a:solidFill>
              <a:srgbClr val="F3F7F6"/>
            </a:solidFill>
            <a:prstDash val="solid"/>
          </a:ln>
        </p:spPr>
      </p:sp>
      <p:sp>
        <p:nvSpPr>
          <p:cNvPr id="22" name="Text 20"/>
          <p:cNvSpPr txBox="1"/>
          <p:nvPr/>
        </p:nvSpPr>
        <p:spPr>
          <a:xfrm>
            <a:off x="3291840" y="3017520"/>
            <a:ext cx="2697480" cy="594360"/>
          </a:xfrm>
          <a:prstGeom prst="rect">
            <a:avLst/>
          </a:prstGeom>
          <a:noFill/>
          <a:ln/>
        </p:spPr>
        <p:txBody>
          <a:bodyPr wrap="square" lIns="0" tIns="0" rIns="0" bIns="0" rtlCol="0" anchor="ctr"/>
          <a:lstStyle/>
          <a:p>
            <a:pPr algn="ctr" indent="0" marL="0">
              <a:buNone/>
            </a:pPr>
            <a:r>
              <a:rPr lang="en-US" sz="2600" b="1" dirty="0">
                <a:solidFill>
                  <a:srgbClr val="2A9D8F"/>
                </a:solidFill>
                <a:latin typeface="Cambria" pitchFamily="34" charset="0"/>
                <a:ea typeface="Cambria" pitchFamily="34" charset="-122"/>
                <a:cs typeface="Cambria" pitchFamily="34" charset="-120"/>
              </a:rPr>
              <a:t>7 / 10</a:t>
            </a:r>
            <a:endParaRPr lang="en-US" sz="2600" dirty="0"/>
          </a:p>
        </p:txBody>
      </p:sp>
      <p:sp>
        <p:nvSpPr>
          <p:cNvPr id="23" name="Text 21"/>
          <p:cNvSpPr txBox="1"/>
          <p:nvPr/>
        </p:nvSpPr>
        <p:spPr>
          <a:xfrm>
            <a:off x="3291840" y="3657600"/>
            <a:ext cx="2697480" cy="365760"/>
          </a:xfrm>
          <a:prstGeom prst="rect">
            <a:avLst/>
          </a:prstGeom>
          <a:noFill/>
          <a:ln/>
        </p:spPr>
        <p:txBody>
          <a:bodyPr wrap="square" lIns="0" tIns="0" rIns="0" bIns="0" rtlCol="0" anchor="ctr"/>
          <a:lstStyle/>
          <a:p>
            <a:pPr algn="ctr" indent="0" marL="0">
              <a:buNone/>
            </a:pPr>
            <a:r>
              <a:rPr lang="en-US" sz="1400" dirty="0">
                <a:solidFill>
                  <a:srgbClr val="5A6B7A"/>
                </a:solidFill>
                <a:latin typeface="Calibri" pitchFamily="34" charset="0"/>
                <a:ea typeface="Calibri" pitchFamily="34" charset="-122"/>
                <a:cs typeface="Calibri" pitchFamily="34" charset="-120"/>
              </a:rPr>
              <a:t>pooled = 0.70</a:t>
            </a:r>
            <a:endParaRPr lang="en-US" sz="1400" dirty="0"/>
          </a:p>
        </p:txBody>
      </p:sp>
      <p:sp>
        <p:nvSpPr>
          <p:cNvPr id="24" name="Shape 22"/>
          <p:cNvSpPr/>
          <p:nvPr/>
        </p:nvSpPr>
        <p:spPr>
          <a:xfrm>
            <a:off x="6126480" y="2880360"/>
            <a:ext cx="2697480" cy="1325880"/>
          </a:xfrm>
          <a:prstGeom prst="roundRect">
            <a:avLst>
              <a:gd name="adj" fmla="val 5517"/>
            </a:avLst>
          </a:prstGeom>
          <a:solidFill>
            <a:srgbClr val="F3F7F6"/>
          </a:solidFill>
          <a:ln w="12700">
            <a:solidFill>
              <a:srgbClr val="F3F7F6"/>
            </a:solidFill>
            <a:prstDash val="solid"/>
          </a:ln>
        </p:spPr>
      </p:sp>
      <p:sp>
        <p:nvSpPr>
          <p:cNvPr id="25" name="Text 23"/>
          <p:cNvSpPr txBox="1"/>
          <p:nvPr/>
        </p:nvSpPr>
        <p:spPr>
          <a:xfrm>
            <a:off x="6126480" y="3017520"/>
            <a:ext cx="2697480" cy="594360"/>
          </a:xfrm>
          <a:prstGeom prst="rect">
            <a:avLst/>
          </a:prstGeom>
          <a:noFill/>
          <a:ln/>
        </p:spPr>
        <p:txBody>
          <a:bodyPr wrap="square" lIns="0" tIns="0" rIns="0" bIns="0" rtlCol="0" anchor="ctr"/>
          <a:lstStyle/>
          <a:p>
            <a:pPr algn="ctr" indent="0" marL="0">
              <a:buNone/>
            </a:pPr>
            <a:r>
              <a:rPr lang="en-US" sz="2600" b="1" dirty="0">
                <a:solidFill>
                  <a:srgbClr val="2A9D8F"/>
                </a:solidFill>
                <a:latin typeface="Cambria" pitchFamily="34" charset="0"/>
                <a:ea typeface="Cambria" pitchFamily="34" charset="-122"/>
                <a:cs typeface="Cambria" pitchFamily="34" charset="-120"/>
              </a:rPr>
              <a:t>3 / 3</a:t>
            </a:r>
            <a:endParaRPr lang="en-US" sz="2600" dirty="0"/>
          </a:p>
        </p:txBody>
      </p:sp>
      <p:sp>
        <p:nvSpPr>
          <p:cNvPr id="26" name="Text 24"/>
          <p:cNvSpPr txBox="1"/>
          <p:nvPr/>
        </p:nvSpPr>
        <p:spPr>
          <a:xfrm>
            <a:off x="6126480" y="3657600"/>
            <a:ext cx="2697480" cy="365760"/>
          </a:xfrm>
          <a:prstGeom prst="rect">
            <a:avLst/>
          </a:prstGeom>
          <a:noFill/>
          <a:ln/>
        </p:spPr>
        <p:txBody>
          <a:bodyPr wrap="square" lIns="0" tIns="0" rIns="0" bIns="0" rtlCol="0" anchor="ctr"/>
          <a:lstStyle/>
          <a:p>
            <a:pPr algn="ctr" indent="0" marL="0">
              <a:buNone/>
            </a:pPr>
            <a:r>
              <a:rPr lang="en-US" sz="1400" dirty="0">
                <a:solidFill>
                  <a:srgbClr val="5A6B7A"/>
                </a:solidFill>
                <a:latin typeface="Calibri" pitchFamily="34" charset="0"/>
                <a:ea typeface="Calibri" pitchFamily="34" charset="-122"/>
                <a:cs typeface="Calibri" pitchFamily="34" charset="-120"/>
              </a:rPr>
              <a:t>oracle · nop 0</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40080"/>
          </a:xfrm>
          <a:prstGeom prst="rect">
            <a:avLst/>
          </a:prstGeom>
          <a:noFill/>
          <a:ln/>
        </p:spPr>
        <p:txBody>
          <a:bodyPr wrap="square" lIns="0" tIns="0" rIns="0" bIns="0" rtlCol="0" anchor="ctr"/>
          <a:lstStyle/>
          <a:p>
            <a:pPr indent="0" marL="0">
              <a:buNone/>
            </a:pPr>
            <a:r>
              <a:rPr lang="en-US" sz="2800" b="1" dirty="0">
                <a:solidFill>
                  <a:srgbClr val="0F1B2A"/>
                </a:solidFill>
                <a:latin typeface="Cambria" pitchFamily="34" charset="0"/>
                <a:ea typeface="Cambria" pitchFamily="34" charset="-122"/>
                <a:cs typeface="Cambria" pitchFamily="34" charset="-120"/>
              </a:rPr>
              <a:t>Stretch goals — measured, including negatives</a:t>
            </a:r>
            <a:endParaRPr lang="en-US" sz="2800" dirty="0"/>
          </a:p>
        </p:txBody>
      </p:sp>
      <p:sp>
        <p:nvSpPr>
          <p:cNvPr id="3" name="Shape 1"/>
          <p:cNvSpPr/>
          <p:nvPr/>
        </p:nvSpPr>
        <p:spPr>
          <a:xfrm>
            <a:off x="457200" y="1097280"/>
            <a:ext cx="4114800" cy="1554480"/>
          </a:xfrm>
          <a:prstGeom prst="roundRect">
            <a:avLst>
              <a:gd name="adj" fmla="val 4706"/>
            </a:avLst>
          </a:prstGeom>
          <a:solidFill>
            <a:srgbClr val="F3F7F6"/>
          </a:solidFill>
          <a:ln w="12700">
            <a:solidFill>
              <a:srgbClr val="F3F7F6"/>
            </a:solidFill>
            <a:prstDash val="solid"/>
          </a:ln>
        </p:spPr>
      </p:sp>
      <p:sp>
        <p:nvSpPr>
          <p:cNvPr id="4" name="Text 2"/>
          <p:cNvSpPr txBox="1"/>
          <p:nvPr/>
        </p:nvSpPr>
        <p:spPr>
          <a:xfrm>
            <a:off x="685800" y="1261872"/>
            <a:ext cx="3657600" cy="292608"/>
          </a:xfrm>
          <a:prstGeom prst="rect">
            <a:avLst/>
          </a:prstGeom>
          <a:noFill/>
          <a:ln/>
        </p:spPr>
        <p:txBody>
          <a:bodyPr wrap="square" lIns="0" tIns="0" rIns="0" bIns="0" rtlCol="0" anchor="ctr"/>
          <a:lstStyle/>
          <a:p>
            <a:pPr indent="0" marL="0">
              <a:buNone/>
            </a:pPr>
            <a:r>
              <a:rPr lang="en-US" sz="1300" b="1" dirty="0">
                <a:solidFill>
                  <a:srgbClr val="2A9D8F"/>
                </a:solidFill>
                <a:latin typeface="Calibri" pitchFamily="34" charset="0"/>
                <a:ea typeface="Calibri" pitchFamily="34" charset="-122"/>
                <a:cs typeface="Calibri" pitchFamily="34" charset="-120"/>
              </a:rPr>
              <a:t>A  cost</a:t>
            </a:r>
            <a:endParaRPr lang="en-US" sz="1300" dirty="0"/>
          </a:p>
        </p:txBody>
      </p:sp>
      <p:sp>
        <p:nvSpPr>
          <p:cNvPr id="5" name="Text 3"/>
          <p:cNvSpPr txBox="1"/>
          <p:nvPr/>
        </p:nvSpPr>
        <p:spPr>
          <a:xfrm>
            <a:off x="685800" y="1572768"/>
            <a:ext cx="3657600" cy="411480"/>
          </a:xfrm>
          <a:prstGeom prst="rect">
            <a:avLst/>
          </a:prstGeom>
          <a:noFill/>
          <a:ln/>
        </p:spPr>
        <p:txBody>
          <a:bodyPr wrap="square" lIns="0" tIns="0" rIns="0" bIns="0" rtlCol="0" anchor="ctr"/>
          <a:lstStyle/>
          <a:p>
            <a:pPr indent="0" marL="0">
              <a:buNone/>
            </a:pPr>
            <a:r>
              <a:rPr lang="en-US" sz="2000" b="1" dirty="0">
                <a:solidFill>
                  <a:srgbClr val="0F1B2A"/>
                </a:solidFill>
                <a:latin typeface="Cambria" pitchFamily="34" charset="0"/>
                <a:ea typeface="Cambria" pitchFamily="34" charset="-122"/>
                <a:cs typeface="Cambria" pitchFamily="34" charset="-120"/>
              </a:rPr>
              <a:t>26.5% of trials saved</a:t>
            </a:r>
            <a:endParaRPr lang="en-US" sz="2000" dirty="0"/>
          </a:p>
        </p:txBody>
      </p:sp>
      <p:sp>
        <p:nvSpPr>
          <p:cNvPr id="6" name="Text 4"/>
          <p:cNvSpPr txBox="1"/>
          <p:nvPr/>
        </p:nvSpPr>
        <p:spPr>
          <a:xfrm>
            <a:off x="685800" y="2057400"/>
            <a:ext cx="3657600" cy="457200"/>
          </a:xfrm>
          <a:prstGeom prst="rect">
            <a:avLst/>
          </a:prstGeom>
          <a:noFill/>
          <a:ln/>
        </p:spPr>
        <p:txBody>
          <a:bodyPr wrap="square" lIns="0" tIns="0" rIns="0" bIns="0" rtlCol="0" anchor="ctr"/>
          <a:lstStyle/>
          <a:p>
            <a:pPr indent="0" marL="0">
              <a:buNone/>
            </a:pPr>
            <a:r>
              <a:rPr lang="en-US" sz="1300" dirty="0">
                <a:solidFill>
                  <a:srgbClr val="5A6B7A"/>
                </a:solidFill>
                <a:latin typeface="Calibri" pitchFamily="34" charset="0"/>
                <a:ea typeface="Calibri" pitchFamily="34" charset="-122"/>
                <a:cs typeface="Calibri" pitchFamily="34" charset="-120"/>
              </a:rPr>
              <a:t>~$3.78 vs naive 5×. Invalid-run early stops credited with nothing.</a:t>
            </a:r>
            <a:endParaRPr lang="en-US" sz="1300" dirty="0"/>
          </a:p>
        </p:txBody>
      </p:sp>
      <p:sp>
        <p:nvSpPr>
          <p:cNvPr id="7" name="Shape 5"/>
          <p:cNvSpPr/>
          <p:nvPr/>
        </p:nvSpPr>
        <p:spPr>
          <a:xfrm>
            <a:off x="4754880" y="1097280"/>
            <a:ext cx="4114800" cy="1554480"/>
          </a:xfrm>
          <a:prstGeom prst="roundRect">
            <a:avLst>
              <a:gd name="adj" fmla="val 4706"/>
            </a:avLst>
          </a:prstGeom>
          <a:solidFill>
            <a:srgbClr val="F3F7F6"/>
          </a:solidFill>
          <a:ln w="12700">
            <a:solidFill>
              <a:srgbClr val="F3F7F6"/>
            </a:solidFill>
            <a:prstDash val="solid"/>
          </a:ln>
        </p:spPr>
      </p:sp>
      <p:sp>
        <p:nvSpPr>
          <p:cNvPr id="8" name="Text 6"/>
          <p:cNvSpPr txBox="1"/>
          <p:nvPr/>
        </p:nvSpPr>
        <p:spPr>
          <a:xfrm>
            <a:off x="4983480" y="1261872"/>
            <a:ext cx="3657600" cy="292608"/>
          </a:xfrm>
          <a:prstGeom prst="rect">
            <a:avLst/>
          </a:prstGeom>
          <a:noFill/>
          <a:ln/>
        </p:spPr>
        <p:txBody>
          <a:bodyPr wrap="square" lIns="0" tIns="0" rIns="0" bIns="0" rtlCol="0" anchor="ctr"/>
          <a:lstStyle/>
          <a:p>
            <a:pPr indent="0" marL="0">
              <a:buNone/>
            </a:pPr>
            <a:r>
              <a:rPr lang="en-US" sz="1300" b="1" dirty="0">
                <a:solidFill>
                  <a:srgbClr val="2A9D8F"/>
                </a:solidFill>
                <a:latin typeface="Calibri" pitchFamily="34" charset="0"/>
                <a:ea typeface="Calibri" pitchFamily="34" charset="-122"/>
                <a:cs typeface="Calibri" pitchFamily="34" charset="-120"/>
              </a:rPr>
              <a:t>B  tuning</a:t>
            </a:r>
            <a:endParaRPr lang="en-US" sz="1300" dirty="0"/>
          </a:p>
        </p:txBody>
      </p:sp>
      <p:sp>
        <p:nvSpPr>
          <p:cNvPr id="9" name="Text 7"/>
          <p:cNvSpPr txBox="1"/>
          <p:nvPr/>
        </p:nvSpPr>
        <p:spPr>
          <a:xfrm>
            <a:off x="4983480" y="1572768"/>
            <a:ext cx="3657600" cy="411480"/>
          </a:xfrm>
          <a:prstGeom prst="rect">
            <a:avLst/>
          </a:prstGeom>
          <a:noFill/>
          <a:ln/>
        </p:spPr>
        <p:txBody>
          <a:bodyPr wrap="square" lIns="0" tIns="0" rIns="0" bIns="0" rtlCol="0" anchor="ctr"/>
          <a:lstStyle/>
          <a:p>
            <a:pPr indent="0" marL="0">
              <a:buNone/>
            </a:pPr>
            <a:r>
              <a:rPr lang="en-US" sz="2000" b="1" dirty="0">
                <a:solidFill>
                  <a:srgbClr val="0F1B2A"/>
                </a:solidFill>
                <a:latin typeface="Cambria" pitchFamily="34" charset="0"/>
                <a:ea typeface="Cambria" pitchFamily="34" charset="-122"/>
                <a:cs typeface="Cambria" pitchFamily="34" charset="-120"/>
              </a:rPr>
              <a:t>not demonstrated</a:t>
            </a:r>
            <a:endParaRPr lang="en-US" sz="2000" dirty="0"/>
          </a:p>
        </p:txBody>
      </p:sp>
      <p:sp>
        <p:nvSpPr>
          <p:cNvPr id="10" name="Text 8"/>
          <p:cNvSpPr txBox="1"/>
          <p:nvPr/>
        </p:nvSpPr>
        <p:spPr>
          <a:xfrm>
            <a:off x="4983480" y="2057400"/>
            <a:ext cx="3657600" cy="457200"/>
          </a:xfrm>
          <a:prstGeom prst="rect">
            <a:avLst/>
          </a:prstGeom>
          <a:noFill/>
          <a:ln/>
        </p:spPr>
        <p:txBody>
          <a:bodyPr wrap="square" lIns="0" tIns="0" rIns="0" bIns="0" rtlCol="0" anchor="ctr"/>
          <a:lstStyle/>
          <a:p>
            <a:pPr indent="0" marL="0">
              <a:buNone/>
            </a:pPr>
            <a:r>
              <a:rPr lang="en-US" sz="1300" dirty="0">
                <a:solidFill>
                  <a:srgbClr val="5A6B7A"/>
                </a:solidFill>
                <a:latin typeface="Calibri" pitchFamily="34" charset="0"/>
                <a:ea typeface="Calibri" pitchFamily="34" charset="-122"/>
                <a:cs typeface="Calibri" pitchFamily="34" charset="-120"/>
              </a:rPr>
              <a:t>13 hash-bound tuning experiments; 0 moved into the band.</a:t>
            </a:r>
            <a:endParaRPr lang="en-US" sz="1300" dirty="0"/>
          </a:p>
        </p:txBody>
      </p:sp>
      <p:sp>
        <p:nvSpPr>
          <p:cNvPr id="11" name="Shape 9"/>
          <p:cNvSpPr/>
          <p:nvPr/>
        </p:nvSpPr>
        <p:spPr>
          <a:xfrm>
            <a:off x="457200" y="2788920"/>
            <a:ext cx="4114800" cy="1554480"/>
          </a:xfrm>
          <a:prstGeom prst="roundRect">
            <a:avLst>
              <a:gd name="adj" fmla="val 4706"/>
            </a:avLst>
          </a:prstGeom>
          <a:solidFill>
            <a:srgbClr val="F3F7F6"/>
          </a:solidFill>
          <a:ln w="12700">
            <a:solidFill>
              <a:srgbClr val="F3F7F6"/>
            </a:solidFill>
            <a:prstDash val="solid"/>
          </a:ln>
        </p:spPr>
      </p:sp>
      <p:sp>
        <p:nvSpPr>
          <p:cNvPr id="12" name="Text 10"/>
          <p:cNvSpPr txBox="1"/>
          <p:nvPr/>
        </p:nvSpPr>
        <p:spPr>
          <a:xfrm>
            <a:off x="685800" y="2953512"/>
            <a:ext cx="3657600" cy="292608"/>
          </a:xfrm>
          <a:prstGeom prst="rect">
            <a:avLst/>
          </a:prstGeom>
          <a:noFill/>
          <a:ln/>
        </p:spPr>
        <p:txBody>
          <a:bodyPr wrap="square" lIns="0" tIns="0" rIns="0" bIns="0" rtlCol="0" anchor="ctr"/>
          <a:lstStyle/>
          <a:p>
            <a:pPr indent="0" marL="0">
              <a:buNone/>
            </a:pPr>
            <a:r>
              <a:rPr lang="en-US" sz="1300" b="1" dirty="0">
                <a:solidFill>
                  <a:srgbClr val="2A9D8F"/>
                </a:solidFill>
                <a:latin typeface="Calibri" pitchFamily="34" charset="0"/>
                <a:ea typeface="Calibri" pitchFamily="34" charset="-122"/>
                <a:cs typeface="Calibri" pitchFamily="34" charset="-120"/>
              </a:rPr>
              <a:t>C  diversity</a:t>
            </a:r>
            <a:endParaRPr lang="en-US" sz="1300" dirty="0"/>
          </a:p>
        </p:txBody>
      </p:sp>
      <p:sp>
        <p:nvSpPr>
          <p:cNvPr id="13" name="Text 11"/>
          <p:cNvSpPr txBox="1"/>
          <p:nvPr/>
        </p:nvSpPr>
        <p:spPr>
          <a:xfrm>
            <a:off x="685800" y="3264408"/>
            <a:ext cx="3657600" cy="411480"/>
          </a:xfrm>
          <a:prstGeom prst="rect">
            <a:avLst/>
          </a:prstGeom>
          <a:noFill/>
          <a:ln/>
        </p:spPr>
        <p:txBody>
          <a:bodyPr wrap="square" lIns="0" tIns="0" rIns="0" bIns="0" rtlCol="0" anchor="ctr"/>
          <a:lstStyle/>
          <a:p>
            <a:pPr indent="0" marL="0">
              <a:buNone/>
            </a:pPr>
            <a:r>
              <a:rPr lang="en-US" sz="2000" b="1" dirty="0">
                <a:solidFill>
                  <a:srgbClr val="0F1B2A"/>
                </a:solidFill>
                <a:latin typeface="Cambria" pitchFamily="34" charset="0"/>
                <a:ea typeface="Cambria" pitchFamily="34" charset="-122"/>
                <a:cs typeface="Cambria" pitchFamily="34" charset="-120"/>
              </a:rPr>
              <a:t>TB 2.1 pool</a:t>
            </a:r>
            <a:endParaRPr lang="en-US" sz="2000" dirty="0"/>
          </a:p>
        </p:txBody>
      </p:sp>
      <p:sp>
        <p:nvSpPr>
          <p:cNvPr id="14" name="Text 12"/>
          <p:cNvSpPr txBox="1"/>
          <p:nvPr/>
        </p:nvSpPr>
        <p:spPr>
          <a:xfrm>
            <a:off x="685800" y="3749040"/>
            <a:ext cx="3657600" cy="457200"/>
          </a:xfrm>
          <a:prstGeom prst="rect">
            <a:avLst/>
          </a:prstGeom>
          <a:noFill/>
          <a:ln/>
        </p:spPr>
        <p:txBody>
          <a:bodyPr wrap="square" lIns="0" tIns="0" rIns="0" bIns="0" rtlCol="0" anchor="ctr"/>
          <a:lstStyle/>
          <a:p>
            <a:pPr indent="0" marL="0">
              <a:buNone/>
            </a:pPr>
            <a:r>
              <a:rPr lang="en-US" sz="1300" dirty="0">
                <a:solidFill>
                  <a:srgbClr val="5A6B7A"/>
                </a:solidFill>
                <a:latin typeface="Calibri" pitchFamily="34" charset="0"/>
                <a:ea typeface="Calibri" pitchFamily="34" charset="-122"/>
                <a:cs typeface="Calibri" pitchFamily="34" charset="-120"/>
              </a:rPr>
              <a:t>Coverage, duplication and novelty on 89 published tasks + examples/.</a:t>
            </a:r>
            <a:endParaRPr lang="en-US" sz="1300" dirty="0"/>
          </a:p>
        </p:txBody>
      </p:sp>
      <p:sp>
        <p:nvSpPr>
          <p:cNvPr id="15" name="Shape 13"/>
          <p:cNvSpPr/>
          <p:nvPr/>
        </p:nvSpPr>
        <p:spPr>
          <a:xfrm>
            <a:off x="4754880" y="2788920"/>
            <a:ext cx="4114800" cy="1554480"/>
          </a:xfrm>
          <a:prstGeom prst="roundRect">
            <a:avLst>
              <a:gd name="adj" fmla="val 4706"/>
            </a:avLst>
          </a:prstGeom>
          <a:solidFill>
            <a:srgbClr val="F3F7F6"/>
          </a:solidFill>
          <a:ln w="12700">
            <a:solidFill>
              <a:srgbClr val="F3F7F6"/>
            </a:solidFill>
            <a:prstDash val="solid"/>
          </a:ln>
        </p:spPr>
      </p:sp>
      <p:sp>
        <p:nvSpPr>
          <p:cNvPr id="16" name="Text 14"/>
          <p:cNvSpPr txBox="1"/>
          <p:nvPr/>
        </p:nvSpPr>
        <p:spPr>
          <a:xfrm>
            <a:off x="4983480" y="2953512"/>
            <a:ext cx="3657600" cy="292608"/>
          </a:xfrm>
          <a:prstGeom prst="rect">
            <a:avLst/>
          </a:prstGeom>
          <a:noFill/>
          <a:ln/>
        </p:spPr>
        <p:txBody>
          <a:bodyPr wrap="square" lIns="0" tIns="0" rIns="0" bIns="0" rtlCol="0" anchor="ctr"/>
          <a:lstStyle/>
          <a:p>
            <a:pPr indent="0" marL="0">
              <a:buNone/>
            </a:pPr>
            <a:r>
              <a:rPr lang="en-US" sz="1300" b="1" dirty="0">
                <a:solidFill>
                  <a:srgbClr val="2A9D8F"/>
                </a:solidFill>
                <a:latin typeface="Calibri" pitchFamily="34" charset="0"/>
                <a:ea typeface="Calibri" pitchFamily="34" charset="-122"/>
                <a:cs typeface="Calibri" pitchFamily="34" charset="-120"/>
              </a:rPr>
              <a:t>D  likeness</a:t>
            </a:r>
            <a:endParaRPr lang="en-US" sz="1300" dirty="0"/>
          </a:p>
        </p:txBody>
      </p:sp>
      <p:sp>
        <p:nvSpPr>
          <p:cNvPr id="17" name="Text 15"/>
          <p:cNvSpPr txBox="1"/>
          <p:nvPr/>
        </p:nvSpPr>
        <p:spPr>
          <a:xfrm>
            <a:off x="4983480" y="3264408"/>
            <a:ext cx="3657600" cy="411480"/>
          </a:xfrm>
          <a:prstGeom prst="rect">
            <a:avLst/>
          </a:prstGeom>
          <a:noFill/>
          <a:ln/>
        </p:spPr>
        <p:txBody>
          <a:bodyPr wrap="square" lIns="0" tIns="0" rIns="0" bIns="0" rtlCol="0" anchor="ctr"/>
          <a:lstStyle/>
          <a:p>
            <a:pPr indent="0" marL="0">
              <a:buNone/>
            </a:pPr>
            <a:r>
              <a:rPr lang="en-US" sz="2000" b="1" dirty="0">
                <a:solidFill>
                  <a:srgbClr val="0F1B2A"/>
                </a:solidFill>
                <a:latin typeface="Cambria" pitchFamily="34" charset="0"/>
                <a:ea typeface="Cambria" pitchFamily="34" charset="-122"/>
                <a:cs typeface="Cambria" pitchFamily="34" charset="-120"/>
              </a:rPr>
              <a:t>blind 0.38</a:t>
            </a:r>
            <a:endParaRPr lang="en-US" sz="2000" dirty="0"/>
          </a:p>
        </p:txBody>
      </p:sp>
      <p:sp>
        <p:nvSpPr>
          <p:cNvPr id="18" name="Text 16"/>
          <p:cNvSpPr txBox="1"/>
          <p:nvPr/>
        </p:nvSpPr>
        <p:spPr>
          <a:xfrm>
            <a:off x="4983480" y="3749040"/>
            <a:ext cx="3657600" cy="457200"/>
          </a:xfrm>
          <a:prstGeom prst="rect">
            <a:avLst/>
          </a:prstGeom>
          <a:noFill/>
          <a:ln/>
        </p:spPr>
        <p:txBody>
          <a:bodyPr wrap="square" lIns="0" tIns="0" rIns="0" bIns="0" rtlCol="0" anchor="ctr"/>
          <a:lstStyle/>
          <a:p>
            <a:pPr indent="0" marL="0">
              <a:buNone/>
            </a:pPr>
            <a:r>
              <a:rPr lang="en-US" sz="1300" dirty="0">
                <a:solidFill>
                  <a:srgbClr val="5A6B7A"/>
                </a:solidFill>
                <a:latin typeface="Calibri" pitchFamily="34" charset="0"/>
                <a:ea typeface="Calibri" pitchFamily="34" charset="-122"/>
                <a:cs typeface="Calibri" pitchFamily="34" charset="-120"/>
              </a:rPr>
              <a:t>95% CI 0.21-0.57. Rubric overfits: examples 0/6 vs generated 3/4.</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40080"/>
          </a:xfrm>
          <a:prstGeom prst="rect">
            <a:avLst/>
          </a:prstGeom>
          <a:noFill/>
          <a:ln/>
        </p:spPr>
        <p:txBody>
          <a:bodyPr wrap="square" lIns="0" tIns="0" rIns="0" bIns="0" rtlCol="0" anchor="ctr"/>
          <a:lstStyle/>
          <a:p>
            <a:pPr indent="0" marL="0">
              <a:buNone/>
            </a:pPr>
            <a:r>
              <a:rPr lang="en-US" sz="2800" b="1" dirty="0">
                <a:solidFill>
                  <a:srgbClr val="0F1B2A"/>
                </a:solidFill>
                <a:latin typeface="Cambria" pitchFamily="34" charset="0"/>
                <a:ea typeface="Cambria" pitchFamily="34" charset="-122"/>
                <a:cs typeface="Cambria" pitchFamily="34" charset="-120"/>
              </a:rPr>
              <a:t>Spend stayed inside the ceiling</a:t>
            </a:r>
            <a:endParaRPr lang="en-US" sz="2800" dirty="0"/>
          </a:p>
        </p:txBody>
      </p:sp>
      <p:sp>
        <p:nvSpPr>
          <p:cNvPr id="3" name="Shape 1"/>
          <p:cNvSpPr/>
          <p:nvPr/>
        </p:nvSpPr>
        <p:spPr>
          <a:xfrm>
            <a:off x="457200" y="1188720"/>
            <a:ext cx="2697480" cy="2011680"/>
          </a:xfrm>
          <a:prstGeom prst="roundRect">
            <a:avLst>
              <a:gd name="adj" fmla="val 3636"/>
            </a:avLst>
          </a:prstGeom>
          <a:solidFill>
            <a:srgbClr val="F3F7F6"/>
          </a:solidFill>
          <a:ln w="12700">
            <a:solidFill>
              <a:srgbClr val="F3F7F6"/>
            </a:solidFill>
            <a:prstDash val="solid"/>
          </a:ln>
        </p:spPr>
      </p:sp>
      <p:sp>
        <p:nvSpPr>
          <p:cNvPr id="4" name="Text 2"/>
          <p:cNvSpPr txBox="1"/>
          <p:nvPr/>
        </p:nvSpPr>
        <p:spPr>
          <a:xfrm>
            <a:off x="457200" y="1463040"/>
            <a:ext cx="2697480" cy="822960"/>
          </a:xfrm>
          <a:prstGeom prst="rect">
            <a:avLst/>
          </a:prstGeom>
          <a:noFill/>
          <a:ln/>
        </p:spPr>
        <p:txBody>
          <a:bodyPr wrap="square" lIns="0" tIns="0" rIns="0" bIns="0" rtlCol="0" anchor="ctr"/>
          <a:lstStyle/>
          <a:p>
            <a:pPr algn="ctr" indent="0" marL="0">
              <a:buNone/>
            </a:pPr>
            <a:r>
              <a:rPr lang="en-US" sz="3600" b="1" dirty="0">
                <a:solidFill>
                  <a:srgbClr val="2A9D8F"/>
                </a:solidFill>
                <a:latin typeface="Cambria" pitchFamily="34" charset="0"/>
                <a:ea typeface="Cambria" pitchFamily="34" charset="-122"/>
                <a:cs typeface="Cambria" pitchFamily="34" charset="-120"/>
              </a:rPr>
              <a:t>$220</a:t>
            </a:r>
            <a:endParaRPr lang="en-US" sz="3600" dirty="0"/>
          </a:p>
        </p:txBody>
      </p:sp>
      <p:sp>
        <p:nvSpPr>
          <p:cNvPr id="5" name="Text 3"/>
          <p:cNvSpPr txBox="1"/>
          <p:nvPr/>
        </p:nvSpPr>
        <p:spPr>
          <a:xfrm>
            <a:off x="457200" y="2377440"/>
            <a:ext cx="2697480" cy="457200"/>
          </a:xfrm>
          <a:prstGeom prst="rect">
            <a:avLst/>
          </a:prstGeom>
          <a:noFill/>
          <a:ln/>
        </p:spPr>
        <p:txBody>
          <a:bodyPr wrap="square" lIns="0" tIns="0" rIns="0" bIns="0" rtlCol="0" anchor="ctr"/>
          <a:lstStyle/>
          <a:p>
            <a:pPr algn="ctr" indent="0" marL="0">
              <a:buNone/>
            </a:pPr>
            <a:r>
              <a:rPr lang="en-US" sz="1400" dirty="0">
                <a:solidFill>
                  <a:srgbClr val="5A6B7A"/>
                </a:solidFill>
                <a:latin typeface="Calibri" pitchFamily="34" charset="0"/>
                <a:ea typeface="Calibri" pitchFamily="34" charset="-122"/>
                <a:cs typeface="Calibri" pitchFamily="34" charset="-120"/>
              </a:rPr>
              <a:t>key spend of $500</a:t>
            </a:r>
            <a:endParaRPr lang="en-US" sz="1400" dirty="0"/>
          </a:p>
        </p:txBody>
      </p:sp>
      <p:sp>
        <p:nvSpPr>
          <p:cNvPr id="6" name="Shape 4"/>
          <p:cNvSpPr/>
          <p:nvPr/>
        </p:nvSpPr>
        <p:spPr>
          <a:xfrm>
            <a:off x="3291840" y="1188720"/>
            <a:ext cx="2697480" cy="2011680"/>
          </a:xfrm>
          <a:prstGeom prst="roundRect">
            <a:avLst>
              <a:gd name="adj" fmla="val 3636"/>
            </a:avLst>
          </a:prstGeom>
          <a:solidFill>
            <a:srgbClr val="F3F7F6"/>
          </a:solidFill>
          <a:ln w="12700">
            <a:solidFill>
              <a:srgbClr val="F3F7F6"/>
            </a:solidFill>
            <a:prstDash val="solid"/>
          </a:ln>
        </p:spPr>
      </p:sp>
      <p:sp>
        <p:nvSpPr>
          <p:cNvPr id="7" name="Text 5"/>
          <p:cNvSpPr txBox="1"/>
          <p:nvPr/>
        </p:nvSpPr>
        <p:spPr>
          <a:xfrm>
            <a:off x="3291840" y="1463040"/>
            <a:ext cx="2697480" cy="822960"/>
          </a:xfrm>
          <a:prstGeom prst="rect">
            <a:avLst/>
          </a:prstGeom>
          <a:noFill/>
          <a:ln/>
        </p:spPr>
        <p:txBody>
          <a:bodyPr wrap="square" lIns="0" tIns="0" rIns="0" bIns="0" rtlCol="0" anchor="ctr"/>
          <a:lstStyle/>
          <a:p>
            <a:pPr algn="ctr" indent="0" marL="0">
              <a:buNone/>
            </a:pPr>
            <a:r>
              <a:rPr lang="en-US" sz="3600" b="1" dirty="0">
                <a:solidFill>
                  <a:srgbClr val="2A9D8F"/>
                </a:solidFill>
                <a:latin typeface="Cambria" pitchFamily="34" charset="0"/>
                <a:ea typeface="Cambria" pitchFamily="34" charset="-122"/>
                <a:cs typeface="Cambria" pitchFamily="34" charset="-120"/>
              </a:rPr>
              <a:t>$280</a:t>
            </a:r>
            <a:endParaRPr lang="en-US" sz="3600" dirty="0"/>
          </a:p>
        </p:txBody>
      </p:sp>
      <p:sp>
        <p:nvSpPr>
          <p:cNvPr id="8" name="Text 6"/>
          <p:cNvSpPr txBox="1"/>
          <p:nvPr/>
        </p:nvSpPr>
        <p:spPr>
          <a:xfrm>
            <a:off x="3291840" y="2377440"/>
            <a:ext cx="2697480" cy="457200"/>
          </a:xfrm>
          <a:prstGeom prst="rect">
            <a:avLst/>
          </a:prstGeom>
          <a:noFill/>
          <a:ln/>
        </p:spPr>
        <p:txBody>
          <a:bodyPr wrap="square" lIns="0" tIns="0" rIns="0" bIns="0" rtlCol="0" anchor="ctr"/>
          <a:lstStyle/>
          <a:p>
            <a:pPr algn="ctr" indent="0" marL="0">
              <a:buNone/>
            </a:pPr>
            <a:r>
              <a:rPr lang="en-US" sz="1400" dirty="0">
                <a:solidFill>
                  <a:srgbClr val="5A6B7A"/>
                </a:solidFill>
                <a:latin typeface="Calibri" pitchFamily="34" charset="0"/>
                <a:ea typeface="Calibri" pitchFamily="34" charset="-122"/>
                <a:cs typeface="Calibri" pitchFamily="34" charset="-120"/>
              </a:rPr>
              <a:t>remaining</a:t>
            </a:r>
            <a:endParaRPr lang="en-US" sz="1400" dirty="0"/>
          </a:p>
        </p:txBody>
      </p:sp>
      <p:sp>
        <p:nvSpPr>
          <p:cNvPr id="9" name="Shape 7"/>
          <p:cNvSpPr/>
          <p:nvPr/>
        </p:nvSpPr>
        <p:spPr>
          <a:xfrm>
            <a:off x="6126480" y="1188720"/>
            <a:ext cx="2697480" cy="2011680"/>
          </a:xfrm>
          <a:prstGeom prst="roundRect">
            <a:avLst>
              <a:gd name="adj" fmla="val 3636"/>
            </a:avLst>
          </a:prstGeom>
          <a:solidFill>
            <a:srgbClr val="F3F7F6"/>
          </a:solidFill>
          <a:ln w="12700">
            <a:solidFill>
              <a:srgbClr val="F3F7F6"/>
            </a:solidFill>
            <a:prstDash val="solid"/>
          </a:ln>
        </p:spPr>
      </p:sp>
      <p:sp>
        <p:nvSpPr>
          <p:cNvPr id="10" name="Text 8"/>
          <p:cNvSpPr txBox="1"/>
          <p:nvPr/>
        </p:nvSpPr>
        <p:spPr>
          <a:xfrm>
            <a:off x="6126480" y="1463040"/>
            <a:ext cx="2697480" cy="822960"/>
          </a:xfrm>
          <a:prstGeom prst="rect">
            <a:avLst/>
          </a:prstGeom>
          <a:noFill/>
          <a:ln/>
        </p:spPr>
        <p:txBody>
          <a:bodyPr wrap="square" lIns="0" tIns="0" rIns="0" bIns="0" rtlCol="0" anchor="ctr"/>
          <a:lstStyle/>
          <a:p>
            <a:pPr algn="ctr" indent="0" marL="0">
              <a:buNone/>
            </a:pPr>
            <a:r>
              <a:rPr lang="en-US" sz="3600" b="1" dirty="0">
                <a:solidFill>
                  <a:srgbClr val="2A9D8F"/>
                </a:solidFill>
                <a:latin typeface="Cambria" pitchFamily="34" charset="0"/>
                <a:ea typeface="Cambria" pitchFamily="34" charset="-122"/>
                <a:cs typeface="Cambria" pitchFamily="34" charset="-120"/>
              </a:rPr>
              <a:t>$12.5</a:t>
            </a:r>
            <a:endParaRPr lang="en-US" sz="3600" dirty="0"/>
          </a:p>
        </p:txBody>
      </p:sp>
      <p:sp>
        <p:nvSpPr>
          <p:cNvPr id="11" name="Text 9"/>
          <p:cNvSpPr txBox="1"/>
          <p:nvPr/>
        </p:nvSpPr>
        <p:spPr>
          <a:xfrm>
            <a:off x="6126480" y="2377440"/>
            <a:ext cx="2697480" cy="457200"/>
          </a:xfrm>
          <a:prstGeom prst="rect">
            <a:avLst/>
          </a:prstGeom>
          <a:noFill/>
          <a:ln/>
        </p:spPr>
        <p:txBody>
          <a:bodyPr wrap="square" lIns="0" tIns="0" rIns="0" bIns="0" rtlCol="0" anchor="ctr"/>
          <a:lstStyle/>
          <a:p>
            <a:pPr algn="ctr" indent="0" marL="0">
              <a:buNone/>
            </a:pPr>
            <a:r>
              <a:rPr lang="en-US" sz="1400" dirty="0">
                <a:solidFill>
                  <a:srgbClr val="5A6B7A"/>
                </a:solidFill>
                <a:latin typeface="Calibri" pitchFamily="34" charset="0"/>
                <a:ea typeface="Calibri" pitchFamily="34" charset="-122"/>
                <a:cs typeface="Calibri" pitchFamily="34" charset="-120"/>
              </a:rPr>
              <a:t>this pair's ledger</a:t>
            </a:r>
            <a:endParaRPr lang="en-US" sz="1400" dirty="0"/>
          </a:p>
        </p:txBody>
      </p:sp>
      <p:sp>
        <p:nvSpPr>
          <p:cNvPr id="12" name="Text 10"/>
          <p:cNvSpPr txBox="1"/>
          <p:nvPr/>
        </p:nvSpPr>
        <p:spPr>
          <a:xfrm>
            <a:off x="457200" y="3474720"/>
            <a:ext cx="8229600" cy="777240"/>
          </a:xfrm>
          <a:prstGeom prst="rect">
            <a:avLst/>
          </a:prstGeom>
          <a:noFill/>
          <a:ln/>
        </p:spPr>
        <p:txBody>
          <a:bodyPr wrap="square" lIns="0" tIns="0" rIns="0" bIns="0" rtlCol="0" anchor="ctr"/>
          <a:lstStyle/>
          <a:p>
            <a:pPr indent="0" marL="0">
              <a:buNone/>
            </a:pPr>
            <a:r>
              <a:rPr lang="en-US" sz="1500" dirty="0">
                <a:solidFill>
                  <a:srgbClr val="5A6B7A"/>
                </a:solidFill>
                <a:latin typeface="Calibri" pitchFamily="34" charset="0"/>
                <a:ea typeface="Calibri" pitchFamily="34" charset="-122"/>
                <a:cs typeface="Calibri" pitchFamily="34" charset="-120"/>
              </a:rPr>
              <a:t>The ledger over-counts across scopes. The key is authoritative. Reconciliation is unresolved: cache accounting explains a $237 swing; a $190 residual remains.</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B2A"/>
        </a:solidFill>
      </p:bgPr>
    </p:bg>
    <p:spTree>
      <p:nvGrpSpPr>
        <p:cNvPr id="1" name=""/>
        <p:cNvGrpSpPr/>
        <p:nvPr/>
      </p:nvGrpSpPr>
      <p:grpSpPr>
        <a:xfrm>
          <a:off x="0" y="0"/>
          <a:ext cx="0" cy="0"/>
          <a:chOff x="0" y="0"/>
          <a:chExt cx="0" cy="0"/>
        </a:xfrm>
      </p:grpSpPr>
      <p:sp>
        <p:nvSpPr>
          <p:cNvPr id="2" name="Text 0"/>
          <p:cNvSpPr txBox="1"/>
          <p:nvPr/>
        </p:nvSpPr>
        <p:spPr>
          <a:xfrm>
            <a:off x="548640" y="411480"/>
            <a:ext cx="8046720" cy="64008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What we would do next</a:t>
            </a:r>
            <a:endParaRPr lang="en-US" sz="2800" dirty="0"/>
          </a:p>
        </p:txBody>
      </p:sp>
      <p:sp>
        <p:nvSpPr>
          <p:cNvPr id="3" name="Text 1"/>
          <p:cNvSpPr txBox="1"/>
          <p:nvPr/>
        </p:nvSpPr>
        <p:spPr>
          <a:xfrm>
            <a:off x="640080" y="1188720"/>
            <a:ext cx="2194560" cy="640080"/>
          </a:xfrm>
          <a:prstGeom prst="rect">
            <a:avLst/>
          </a:prstGeom>
          <a:noFill/>
          <a:ln/>
        </p:spPr>
        <p:txBody>
          <a:bodyPr wrap="square" lIns="0" tIns="0" rIns="0" bIns="0" rtlCol="0" anchor="ctr"/>
          <a:lstStyle/>
          <a:p>
            <a:pPr indent="0" marL="0">
              <a:buNone/>
            </a:pPr>
            <a:r>
              <a:rPr lang="en-US" sz="1600" b="1" dirty="0">
                <a:solidFill>
                  <a:srgbClr val="2A9D8F"/>
                </a:solidFill>
                <a:latin typeface="Calibri" pitchFamily="34" charset="0"/>
                <a:ea typeface="Calibri" pitchFamily="34" charset="-122"/>
                <a:cs typeface="Calibri" pitchFamily="34" charset="-120"/>
              </a:rPr>
              <a:t>Small N</a:t>
            </a:r>
            <a:endParaRPr lang="en-US" sz="1600" dirty="0"/>
          </a:p>
        </p:txBody>
      </p:sp>
      <p:sp>
        <p:nvSpPr>
          <p:cNvPr id="4" name="Text 2"/>
          <p:cNvSpPr txBox="1"/>
          <p:nvPr/>
        </p:nvSpPr>
        <p:spPr>
          <a:xfrm>
            <a:off x="2926080" y="1188720"/>
            <a:ext cx="5669280" cy="64008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One approved task. The pool is bimodal: 0, 0, 4, 5, 5.</a:t>
            </a:r>
            <a:endParaRPr lang="en-US" sz="1600" dirty="0"/>
          </a:p>
        </p:txBody>
      </p:sp>
      <p:sp>
        <p:nvSpPr>
          <p:cNvPr id="5" name="Text 3"/>
          <p:cNvSpPr txBox="1"/>
          <p:nvPr/>
        </p:nvSpPr>
        <p:spPr>
          <a:xfrm>
            <a:off x="640080" y="2011680"/>
            <a:ext cx="2194560" cy="640080"/>
          </a:xfrm>
          <a:prstGeom prst="rect">
            <a:avLst/>
          </a:prstGeom>
          <a:noFill/>
          <a:ln/>
        </p:spPr>
        <p:txBody>
          <a:bodyPr wrap="square" lIns="0" tIns="0" rIns="0" bIns="0" rtlCol="0" anchor="ctr"/>
          <a:lstStyle/>
          <a:p>
            <a:pPr indent="0" marL="0">
              <a:buNone/>
            </a:pPr>
            <a:r>
              <a:rPr lang="en-US" sz="1600" b="1" dirty="0">
                <a:solidFill>
                  <a:srgbClr val="2A9D8F"/>
                </a:solidFill>
                <a:latin typeface="Calibri" pitchFamily="34" charset="0"/>
                <a:ea typeface="Calibri" pitchFamily="34" charset="-122"/>
                <a:cs typeface="Calibri" pitchFamily="34" charset="-120"/>
              </a:rPr>
              <a:t>Self-judging</a:t>
            </a:r>
            <a:endParaRPr lang="en-US" sz="1600" dirty="0"/>
          </a:p>
        </p:txBody>
      </p:sp>
      <p:sp>
        <p:nvSpPr>
          <p:cNvPr id="6" name="Text 4"/>
          <p:cNvSpPr txBox="1"/>
          <p:nvPr/>
        </p:nvSpPr>
        <p:spPr>
          <a:xfrm>
            <a:off x="2926080" y="2011680"/>
            <a:ext cx="5669280" cy="64008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The author also judges and red-teams. Quality scores carry that bias.</a:t>
            </a:r>
            <a:endParaRPr lang="en-US" sz="1600" dirty="0"/>
          </a:p>
        </p:txBody>
      </p:sp>
      <p:sp>
        <p:nvSpPr>
          <p:cNvPr id="7" name="Text 5"/>
          <p:cNvSpPr txBox="1"/>
          <p:nvPr/>
        </p:nvSpPr>
        <p:spPr>
          <a:xfrm>
            <a:off x="640080" y="2834640"/>
            <a:ext cx="2194560" cy="640080"/>
          </a:xfrm>
          <a:prstGeom prst="rect">
            <a:avLst/>
          </a:prstGeom>
          <a:noFill/>
          <a:ln/>
        </p:spPr>
        <p:txBody>
          <a:bodyPr wrap="square" lIns="0" tIns="0" rIns="0" bIns="0" rtlCol="0" anchor="ctr"/>
          <a:lstStyle/>
          <a:p>
            <a:pPr indent="0" marL="0">
              <a:buNone/>
            </a:pPr>
            <a:r>
              <a:rPr lang="en-US" sz="1600" b="1" dirty="0">
                <a:solidFill>
                  <a:srgbClr val="2A9D8F"/>
                </a:solidFill>
                <a:latin typeface="Calibri" pitchFamily="34" charset="0"/>
                <a:ea typeface="Calibri" pitchFamily="34" charset="-122"/>
                <a:cs typeface="Calibri" pitchFamily="34" charset="-120"/>
              </a:rPr>
              <a:t>Novelty</a:t>
            </a:r>
            <a:endParaRPr lang="en-US" sz="1600" dirty="0"/>
          </a:p>
        </p:txBody>
      </p:sp>
      <p:sp>
        <p:nvSpPr>
          <p:cNvPr id="8" name="Text 6"/>
          <p:cNvSpPr txBox="1"/>
          <p:nvPr/>
        </p:nvSpPr>
        <p:spPr>
          <a:xfrm>
            <a:off x="2926080" y="2834640"/>
            <a:ext cx="5669280" cy="64008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TB 2.1 + examples — not full public-task decontamination.</a:t>
            </a:r>
            <a:endParaRPr lang="en-US" sz="1600" dirty="0"/>
          </a:p>
        </p:txBody>
      </p:sp>
      <p:sp>
        <p:nvSpPr>
          <p:cNvPr id="9" name="Text 7"/>
          <p:cNvSpPr txBox="1"/>
          <p:nvPr/>
        </p:nvSpPr>
        <p:spPr>
          <a:xfrm>
            <a:off x="640080" y="3657600"/>
            <a:ext cx="2194560" cy="640080"/>
          </a:xfrm>
          <a:prstGeom prst="rect">
            <a:avLst/>
          </a:prstGeom>
          <a:noFill/>
          <a:ln/>
        </p:spPr>
        <p:txBody>
          <a:bodyPr wrap="square" lIns="0" tIns="0" rIns="0" bIns="0" rtlCol="0" anchor="ctr"/>
          <a:lstStyle/>
          <a:p>
            <a:pPr indent="0" marL="0">
              <a:buNone/>
            </a:pPr>
            <a:r>
              <a:rPr lang="en-US" sz="1600" b="1" dirty="0">
                <a:solidFill>
                  <a:srgbClr val="2A9D8F"/>
                </a:solidFill>
                <a:latin typeface="Calibri" pitchFamily="34" charset="0"/>
                <a:ea typeface="Calibri" pitchFamily="34" charset="-122"/>
                <a:cs typeface="Calibri" pitchFamily="34" charset="-120"/>
              </a:rPr>
              <a:t>Next</a:t>
            </a:r>
            <a:endParaRPr lang="en-US" sz="1600" dirty="0"/>
          </a:p>
        </p:txBody>
      </p:sp>
      <p:sp>
        <p:nvSpPr>
          <p:cNvPr id="10" name="Text 8"/>
          <p:cNvSpPr txBox="1"/>
          <p:nvPr/>
        </p:nvSpPr>
        <p:spPr>
          <a:xfrm>
            <a:off x="2926080" y="3657600"/>
            <a:ext cx="5669280" cy="64008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Stronger traps, a wider solver gap, difficulty near p ≈ 0.35.</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B2A"/>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64008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Architecture at a glance</a:t>
            </a:r>
            <a:endParaRPr lang="en-US" sz="2800" dirty="0"/>
          </a:p>
        </p:txBody>
      </p:sp>
      <p:sp>
        <p:nvSpPr>
          <p:cNvPr id="3" name="Text 1"/>
          <p:cNvSpPr txBox="1"/>
          <p:nvPr/>
        </p:nvSpPr>
        <p:spPr>
          <a:xfrm>
            <a:off x="548640" y="987552"/>
            <a:ext cx="8046720" cy="411480"/>
          </a:xfrm>
          <a:prstGeom prst="rect">
            <a:avLst/>
          </a:prstGeom>
          <a:noFill/>
          <a:ln/>
        </p:spPr>
        <p:txBody>
          <a:bodyPr wrap="square" lIns="0" tIns="0" rIns="0" bIns="0" rtlCol="0" anchor="ctr"/>
          <a:lstStyle/>
          <a:p>
            <a:pPr indent="0" marL="0">
              <a:buNone/>
            </a:pPr>
            <a:r>
              <a:rPr lang="en-US" sz="1500" dirty="0">
                <a:solidFill>
                  <a:srgbClr val="2A9D8F"/>
                </a:solidFill>
                <a:latin typeface="Calibri" pitchFamily="34" charset="0"/>
                <a:ea typeface="Calibri" pitchFamily="34" charset="-122"/>
                <a:cs typeface="Calibri" pitchFamily="34" charset="-120"/>
              </a:rPr>
              <a:t>spec → blueprint → author in a container → gates → calibration → ship</a:t>
            </a:r>
            <a:endParaRPr lang="en-US" sz="1500" dirty="0"/>
          </a:p>
        </p:txBody>
      </p:sp>
      <p:sp>
        <p:nvSpPr>
          <p:cNvPr id="4" name="Shape 2"/>
          <p:cNvSpPr/>
          <p:nvPr/>
        </p:nvSpPr>
        <p:spPr>
          <a:xfrm>
            <a:off x="548640" y="1600200"/>
            <a:ext cx="3886200" cy="1417320"/>
          </a:xfrm>
          <a:prstGeom prst="roundRect">
            <a:avLst>
              <a:gd name="adj" fmla="val 5161"/>
            </a:avLst>
          </a:prstGeom>
          <a:solidFill>
            <a:srgbClr val="F3F7F6"/>
          </a:solidFill>
          <a:ln w="12700">
            <a:solidFill>
              <a:srgbClr val="F3F7F6"/>
            </a:solidFill>
            <a:prstDash val="solid"/>
          </a:ln>
        </p:spPr>
      </p:sp>
      <p:sp>
        <p:nvSpPr>
          <p:cNvPr id="5" name="Text 3"/>
          <p:cNvSpPr txBox="1"/>
          <p:nvPr/>
        </p:nvSpPr>
        <p:spPr>
          <a:xfrm>
            <a:off x="731520" y="1709928"/>
            <a:ext cx="3520440" cy="320040"/>
          </a:xfrm>
          <a:prstGeom prst="rect">
            <a:avLst/>
          </a:prstGeom>
          <a:noFill/>
          <a:ln/>
        </p:spPr>
        <p:txBody>
          <a:bodyPr wrap="square" lIns="0" tIns="0" rIns="0" bIns="0" rtlCol="0" anchor="ctr"/>
          <a:lstStyle/>
          <a:p>
            <a:pPr indent="0" marL="0">
              <a:buNone/>
            </a:pPr>
            <a:r>
              <a:rPr lang="en-US" sz="1500" b="1" dirty="0">
                <a:solidFill>
                  <a:srgbClr val="2A9D8F"/>
                </a:solidFill>
                <a:latin typeface="Calibri" pitchFamily="34" charset="0"/>
                <a:ea typeface="Calibri" pitchFamily="34" charset="-122"/>
                <a:cs typeface="Calibri" pitchFamily="34" charset="-120"/>
              </a:rPr>
              <a:t>Gates before money</a:t>
            </a:r>
            <a:endParaRPr lang="en-US" sz="1500" dirty="0"/>
          </a:p>
        </p:txBody>
      </p:sp>
      <p:sp>
        <p:nvSpPr>
          <p:cNvPr id="6" name="Text 4"/>
          <p:cNvSpPr txBox="1"/>
          <p:nvPr/>
        </p:nvSpPr>
        <p:spPr>
          <a:xfrm>
            <a:off x="731520" y="2057400"/>
            <a:ext cx="3520440" cy="868680"/>
          </a:xfrm>
          <a:prstGeom prst="rect">
            <a:avLst/>
          </a:prstGeom>
          <a:noFill/>
          <a:ln/>
        </p:spPr>
        <p:txBody>
          <a:bodyPr wrap="square" lIns="0" tIns="0" rIns="0" bIns="0" rtlCol="0" anchor="ctr"/>
          <a:lstStyle/>
          <a:p>
            <a:pPr indent="0" marL="0">
              <a:buNone/>
            </a:pPr>
            <a:r>
              <a:rPr lang="en-US" sz="1300" dirty="0">
                <a:solidFill>
                  <a:srgbClr val="5A6B7A"/>
                </a:solidFill>
                <a:latin typeface="Calibri" pitchFamily="34" charset="0"/>
                <a:ea typeface="Calibri" pitchFamily="34" charset="-122"/>
                <a:cs typeface="Calibri" pitchFamily="34" charset="-120"/>
              </a:rPr>
              <a:t>structure → oracle/nop → quality; cheap flags stop a run before calibration spend</a:t>
            </a:r>
            <a:endParaRPr lang="en-US" sz="1300" dirty="0"/>
          </a:p>
        </p:txBody>
      </p:sp>
      <p:sp>
        <p:nvSpPr>
          <p:cNvPr id="7" name="Shape 5"/>
          <p:cNvSpPr/>
          <p:nvPr/>
        </p:nvSpPr>
        <p:spPr>
          <a:xfrm>
            <a:off x="4663440" y="1600200"/>
            <a:ext cx="3886200" cy="1417320"/>
          </a:xfrm>
          <a:prstGeom prst="roundRect">
            <a:avLst>
              <a:gd name="adj" fmla="val 5161"/>
            </a:avLst>
          </a:prstGeom>
          <a:solidFill>
            <a:srgbClr val="F3F7F6"/>
          </a:solidFill>
          <a:ln w="12700">
            <a:solidFill>
              <a:srgbClr val="F3F7F6"/>
            </a:solidFill>
            <a:prstDash val="solid"/>
          </a:ln>
        </p:spPr>
      </p:sp>
      <p:sp>
        <p:nvSpPr>
          <p:cNvPr id="8" name="Text 6"/>
          <p:cNvSpPr txBox="1"/>
          <p:nvPr/>
        </p:nvSpPr>
        <p:spPr>
          <a:xfrm>
            <a:off x="4846320" y="1709928"/>
            <a:ext cx="3520440" cy="320040"/>
          </a:xfrm>
          <a:prstGeom prst="rect">
            <a:avLst/>
          </a:prstGeom>
          <a:noFill/>
          <a:ln/>
        </p:spPr>
        <p:txBody>
          <a:bodyPr wrap="square" lIns="0" tIns="0" rIns="0" bIns="0" rtlCol="0" anchor="ctr"/>
          <a:lstStyle/>
          <a:p>
            <a:pPr indent="0" marL="0">
              <a:buNone/>
            </a:pPr>
            <a:r>
              <a:rPr lang="en-US" sz="1500" b="1" dirty="0">
                <a:solidFill>
                  <a:srgbClr val="2A9D8F"/>
                </a:solidFill>
                <a:latin typeface="Calibri" pitchFamily="34" charset="0"/>
                <a:ea typeface="Calibri" pitchFamily="34" charset="-122"/>
                <a:cs typeface="Calibri" pitchFamily="34" charset="-120"/>
              </a:rPr>
              <a:t>Verification</a:t>
            </a:r>
            <a:endParaRPr lang="en-US" sz="1500" dirty="0"/>
          </a:p>
        </p:txBody>
      </p:sp>
      <p:sp>
        <p:nvSpPr>
          <p:cNvPr id="9" name="Text 7"/>
          <p:cNvSpPr txBox="1"/>
          <p:nvPr/>
        </p:nvSpPr>
        <p:spPr>
          <a:xfrm>
            <a:off x="4846320" y="2057400"/>
            <a:ext cx="3520440" cy="868680"/>
          </a:xfrm>
          <a:prstGeom prst="rect">
            <a:avLst/>
          </a:prstGeom>
          <a:noFill/>
          <a:ln/>
        </p:spPr>
        <p:txBody>
          <a:bodyPr wrap="square" lIns="0" tIns="0" rIns="0" bIns="0" rtlCol="0" anchor="ctr"/>
          <a:lstStyle/>
          <a:p>
            <a:pPr indent="0" marL="0">
              <a:buNone/>
            </a:pPr>
            <a:r>
              <a:rPr lang="en-US" sz="1300" dirty="0">
                <a:solidFill>
                  <a:srgbClr val="5A6B7A"/>
                </a:solidFill>
                <a:latin typeface="Calibri" pitchFamily="34" charset="0"/>
                <a:ea typeface="Calibri" pitchFamily="34" charset="-122"/>
                <a:cs typeface="Calibri" pitchFamily="34" charset="-120"/>
              </a:rPr>
              <a:t>oracle 3/3 · nop 0, plus a 16-criterion quality rubric, novelty and red-team</a:t>
            </a:r>
            <a:endParaRPr lang="en-US" sz="1300" dirty="0"/>
          </a:p>
        </p:txBody>
      </p:sp>
      <p:sp>
        <p:nvSpPr>
          <p:cNvPr id="10" name="Shape 8"/>
          <p:cNvSpPr/>
          <p:nvPr/>
        </p:nvSpPr>
        <p:spPr>
          <a:xfrm>
            <a:off x="548640" y="3200400"/>
            <a:ext cx="3886200" cy="1417320"/>
          </a:xfrm>
          <a:prstGeom prst="roundRect">
            <a:avLst>
              <a:gd name="adj" fmla="val 5161"/>
            </a:avLst>
          </a:prstGeom>
          <a:solidFill>
            <a:srgbClr val="F3F7F6"/>
          </a:solidFill>
          <a:ln w="12700">
            <a:solidFill>
              <a:srgbClr val="F3F7F6"/>
            </a:solidFill>
            <a:prstDash val="solid"/>
          </a:ln>
        </p:spPr>
      </p:sp>
      <p:sp>
        <p:nvSpPr>
          <p:cNvPr id="11" name="Text 9"/>
          <p:cNvSpPr txBox="1"/>
          <p:nvPr/>
        </p:nvSpPr>
        <p:spPr>
          <a:xfrm>
            <a:off x="731520" y="3310128"/>
            <a:ext cx="3520440" cy="320040"/>
          </a:xfrm>
          <a:prstGeom prst="rect">
            <a:avLst/>
          </a:prstGeom>
          <a:noFill/>
          <a:ln/>
        </p:spPr>
        <p:txBody>
          <a:bodyPr wrap="square" lIns="0" tIns="0" rIns="0" bIns="0" rtlCol="0" anchor="ctr"/>
          <a:lstStyle/>
          <a:p>
            <a:pPr indent="0" marL="0">
              <a:buNone/>
            </a:pPr>
            <a:r>
              <a:rPr lang="en-US" sz="1500" b="1" dirty="0">
                <a:solidFill>
                  <a:srgbClr val="2A9D8F"/>
                </a:solidFill>
                <a:latin typeface="Calibri" pitchFamily="34" charset="0"/>
                <a:ea typeface="Calibri" pitchFamily="34" charset="-122"/>
                <a:cs typeface="Calibri" pitchFamily="34" charset="-120"/>
              </a:rPr>
              <a:t>Difficulty</a:t>
            </a:r>
            <a:endParaRPr lang="en-US" sz="1500" dirty="0"/>
          </a:p>
        </p:txBody>
      </p:sp>
      <p:sp>
        <p:nvSpPr>
          <p:cNvPr id="12" name="Text 10"/>
          <p:cNvSpPr txBox="1"/>
          <p:nvPr/>
        </p:nvSpPr>
        <p:spPr>
          <a:xfrm>
            <a:off x="731520" y="3657600"/>
            <a:ext cx="3520440" cy="868680"/>
          </a:xfrm>
          <a:prstGeom prst="rect">
            <a:avLst/>
          </a:prstGeom>
          <a:noFill/>
          <a:ln/>
        </p:spPr>
        <p:txBody>
          <a:bodyPr wrap="square" lIns="0" tIns="0" rIns="0" bIns="0" rtlCol="0" anchor="ctr"/>
          <a:lstStyle/>
          <a:p>
            <a:pPr indent="0" marL="0">
              <a:buNone/>
            </a:pPr>
            <a:r>
              <a:rPr lang="en-US" sz="1300" dirty="0">
                <a:solidFill>
                  <a:srgbClr val="5A6B7A"/>
                </a:solidFill>
                <a:latin typeface="Calibri" pitchFamily="34" charset="0"/>
                <a:ea typeface="Calibri" pitchFamily="34" charset="-122"/>
                <a:cs typeface="Calibri" pitchFamily="34" charset="-120"/>
              </a:rPr>
              <a:t>hidden-seed inputs and multi-stage work; no stated wall-clock budgets, no answer-bearing files</a:t>
            </a:r>
            <a:endParaRPr lang="en-US" sz="1300" dirty="0"/>
          </a:p>
        </p:txBody>
      </p:sp>
      <p:sp>
        <p:nvSpPr>
          <p:cNvPr id="13" name="Shape 11"/>
          <p:cNvSpPr/>
          <p:nvPr/>
        </p:nvSpPr>
        <p:spPr>
          <a:xfrm>
            <a:off x="4663440" y="3200400"/>
            <a:ext cx="3886200" cy="1417320"/>
          </a:xfrm>
          <a:prstGeom prst="roundRect">
            <a:avLst>
              <a:gd name="adj" fmla="val 5161"/>
            </a:avLst>
          </a:prstGeom>
          <a:solidFill>
            <a:srgbClr val="F3F7F6"/>
          </a:solidFill>
          <a:ln w="12700">
            <a:solidFill>
              <a:srgbClr val="F3F7F6"/>
            </a:solidFill>
            <a:prstDash val="solid"/>
          </a:ln>
        </p:spPr>
      </p:sp>
      <p:sp>
        <p:nvSpPr>
          <p:cNvPr id="14" name="Text 12"/>
          <p:cNvSpPr txBox="1"/>
          <p:nvPr/>
        </p:nvSpPr>
        <p:spPr>
          <a:xfrm>
            <a:off x="4846320" y="3310128"/>
            <a:ext cx="3520440" cy="320040"/>
          </a:xfrm>
          <a:prstGeom prst="rect">
            <a:avLst/>
          </a:prstGeom>
          <a:noFill/>
          <a:ln/>
        </p:spPr>
        <p:txBody>
          <a:bodyPr wrap="square" lIns="0" tIns="0" rIns="0" bIns="0" rtlCol="0" anchor="ctr"/>
          <a:lstStyle/>
          <a:p>
            <a:pPr indent="0" marL="0">
              <a:buNone/>
            </a:pPr>
            <a:r>
              <a:rPr lang="en-US" sz="1500" b="1" dirty="0">
                <a:solidFill>
                  <a:srgbClr val="2A9D8F"/>
                </a:solidFill>
                <a:latin typeface="Calibri" pitchFamily="34" charset="0"/>
                <a:ea typeface="Calibri" pitchFamily="34" charset="-122"/>
                <a:cs typeface="Calibri" pitchFamily="34" charset="-120"/>
              </a:rPr>
              <a:t>Money</a:t>
            </a:r>
            <a:endParaRPr lang="en-US" sz="1500" dirty="0"/>
          </a:p>
        </p:txBody>
      </p:sp>
      <p:sp>
        <p:nvSpPr>
          <p:cNvPr id="15" name="Text 13"/>
          <p:cNvSpPr txBox="1"/>
          <p:nvPr/>
        </p:nvSpPr>
        <p:spPr>
          <a:xfrm>
            <a:off x="4846320" y="3657600"/>
            <a:ext cx="3520440" cy="868680"/>
          </a:xfrm>
          <a:prstGeom prst="rect">
            <a:avLst/>
          </a:prstGeom>
          <a:noFill/>
          <a:ln/>
        </p:spPr>
        <p:txBody>
          <a:bodyPr wrap="square" lIns="0" tIns="0" rIns="0" bIns="0" rtlCol="0" anchor="ctr"/>
          <a:lstStyle/>
          <a:p>
            <a:pPr indent="0" marL="0">
              <a:buNone/>
            </a:pPr>
            <a:r>
              <a:rPr lang="en-US" sz="1300" dirty="0">
                <a:solidFill>
                  <a:srgbClr val="5A6B7A"/>
                </a:solidFill>
                <a:latin typeface="Calibri" pitchFamily="34" charset="0"/>
                <a:ea typeface="Calibri" pitchFamily="34" charset="-122"/>
                <a:cs typeface="Calibri" pitchFamily="34" charset="-120"/>
              </a:rPr>
              <a:t>cheap gates first; one trial ≈ $0.09, so curtailment pays for a second batch</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B2A"/>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64008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Q&amp;A you should be ready for</a:t>
            </a:r>
            <a:endParaRPr lang="en-US" sz="2800" dirty="0"/>
          </a:p>
        </p:txBody>
      </p:sp>
      <p:sp>
        <p:nvSpPr>
          <p:cNvPr id="3" name="Shape 1"/>
          <p:cNvSpPr/>
          <p:nvPr/>
        </p:nvSpPr>
        <p:spPr>
          <a:xfrm>
            <a:off x="548640" y="1097280"/>
            <a:ext cx="3886200" cy="1645920"/>
          </a:xfrm>
          <a:prstGeom prst="roundRect">
            <a:avLst>
              <a:gd name="adj" fmla="val 4444"/>
            </a:avLst>
          </a:prstGeom>
          <a:solidFill>
            <a:srgbClr val="F3F7F6"/>
          </a:solidFill>
          <a:ln w="12700">
            <a:solidFill>
              <a:srgbClr val="F3F7F6"/>
            </a:solidFill>
            <a:prstDash val="solid"/>
          </a:ln>
        </p:spPr>
      </p:sp>
      <p:sp>
        <p:nvSpPr>
          <p:cNvPr id="4" name="Text 2"/>
          <p:cNvSpPr txBox="1"/>
          <p:nvPr/>
        </p:nvSpPr>
        <p:spPr>
          <a:xfrm>
            <a:off x="731520" y="1207008"/>
            <a:ext cx="3520440" cy="457200"/>
          </a:xfrm>
          <a:prstGeom prst="rect">
            <a:avLst/>
          </a:prstGeom>
          <a:noFill/>
          <a:ln/>
        </p:spPr>
        <p:txBody>
          <a:bodyPr wrap="square" lIns="0" tIns="0" rIns="0" bIns="0" rtlCol="0" anchor="ctr"/>
          <a:lstStyle/>
          <a:p>
            <a:pPr indent="0" marL="0">
              <a:buNone/>
            </a:pPr>
            <a:r>
              <a:rPr lang="en-US" sz="1500" b="1" dirty="0">
                <a:solidFill>
                  <a:srgbClr val="2A9D8F"/>
                </a:solidFill>
                <a:latin typeface="Calibri" pitchFamily="34" charset="0"/>
                <a:ea typeface="Calibri" pitchFamily="34" charset="-122"/>
                <a:cs typeface="Calibri" pitchFamily="34" charset="-120"/>
              </a:rPr>
              <a:t>Is 1–3/5 just noise?</a:t>
            </a:r>
            <a:endParaRPr lang="en-US" sz="1500" dirty="0"/>
          </a:p>
        </p:txBody>
      </p:sp>
      <p:sp>
        <p:nvSpPr>
          <p:cNvPr id="5" name="Text 3"/>
          <p:cNvSpPr txBox="1"/>
          <p:nvPr/>
        </p:nvSpPr>
        <p:spPr>
          <a:xfrm>
            <a:off x="731520" y="1664208"/>
            <a:ext cx="3520440" cy="1005840"/>
          </a:xfrm>
          <a:prstGeom prst="rect">
            <a:avLst/>
          </a:prstGeom>
          <a:noFill/>
          <a:ln/>
        </p:spPr>
        <p:txBody>
          <a:bodyPr wrap="square" lIns="0" tIns="0" rIns="0" bIns="0" rtlCol="0" anchor="ctr"/>
          <a:lstStyle/>
          <a:p>
            <a:pPr indent="0" marL="0">
              <a:buNone/>
            </a:pPr>
            <a:r>
              <a:rPr lang="en-US" sz="1250" dirty="0">
                <a:solidFill>
                  <a:srgbClr val="5A6B7A"/>
                </a:solidFill>
                <a:latin typeface="Calibri" pitchFamily="34" charset="0"/>
                <a:ea typeface="Calibri" pitchFamily="34" charset="-122"/>
                <a:cs typeface="Calibri" pitchFamily="34" charset="-120"/>
              </a:rPr>
              <a:t>A p=0.5 task lands in band 78% of the time, so verdicts are pooled: this task gives 7/10 = 0.70 across two independent batches.</a:t>
            </a:r>
            <a:endParaRPr lang="en-US" sz="1250" dirty="0"/>
          </a:p>
        </p:txBody>
      </p:sp>
      <p:sp>
        <p:nvSpPr>
          <p:cNvPr id="6" name="Shape 4"/>
          <p:cNvSpPr/>
          <p:nvPr/>
        </p:nvSpPr>
        <p:spPr>
          <a:xfrm>
            <a:off x="4663440" y="1097280"/>
            <a:ext cx="3886200" cy="1645920"/>
          </a:xfrm>
          <a:prstGeom prst="roundRect">
            <a:avLst>
              <a:gd name="adj" fmla="val 4444"/>
            </a:avLst>
          </a:prstGeom>
          <a:solidFill>
            <a:srgbClr val="F3F7F6"/>
          </a:solidFill>
          <a:ln w="12700">
            <a:solidFill>
              <a:srgbClr val="F3F7F6"/>
            </a:solidFill>
            <a:prstDash val="solid"/>
          </a:ln>
        </p:spPr>
      </p:sp>
      <p:sp>
        <p:nvSpPr>
          <p:cNvPr id="7" name="Text 5"/>
          <p:cNvSpPr txBox="1"/>
          <p:nvPr/>
        </p:nvSpPr>
        <p:spPr>
          <a:xfrm>
            <a:off x="4846320" y="1207008"/>
            <a:ext cx="3520440" cy="457200"/>
          </a:xfrm>
          <a:prstGeom prst="rect">
            <a:avLst/>
          </a:prstGeom>
          <a:noFill/>
          <a:ln/>
        </p:spPr>
        <p:txBody>
          <a:bodyPr wrap="square" lIns="0" tIns="0" rIns="0" bIns="0" rtlCol="0" anchor="ctr"/>
          <a:lstStyle/>
          <a:p>
            <a:pPr indent="0" marL="0">
              <a:buNone/>
            </a:pPr>
            <a:r>
              <a:rPr lang="en-US" sz="1500" b="1" dirty="0">
                <a:solidFill>
                  <a:srgbClr val="2A9D8F"/>
                </a:solidFill>
                <a:latin typeface="Calibri" pitchFamily="34" charset="0"/>
                <a:ea typeface="Calibri" pitchFamily="34" charset="-122"/>
                <a:cs typeface="Calibri" pitchFamily="34" charset="-120"/>
              </a:rPr>
              <a:t>How do you know it wasn't a hack?</a:t>
            </a:r>
            <a:endParaRPr lang="en-US" sz="1500" dirty="0"/>
          </a:p>
        </p:txBody>
      </p:sp>
      <p:sp>
        <p:nvSpPr>
          <p:cNvPr id="8" name="Text 6"/>
          <p:cNvSpPr txBox="1"/>
          <p:nvPr/>
        </p:nvSpPr>
        <p:spPr>
          <a:xfrm>
            <a:off x="4846320" y="1664208"/>
            <a:ext cx="3520440" cy="1005840"/>
          </a:xfrm>
          <a:prstGeom prst="rect">
            <a:avLst/>
          </a:prstGeom>
          <a:noFill/>
          <a:ln/>
        </p:spPr>
        <p:txBody>
          <a:bodyPr wrap="square" lIns="0" tIns="0" rIns="0" bIns="0" rtlCol="0" anchor="ctr"/>
          <a:lstStyle/>
          <a:p>
            <a:pPr indent="0" marL="0">
              <a:buNone/>
            </a:pPr>
            <a:r>
              <a:rPr lang="en-US" sz="1250" dirty="0">
                <a:solidFill>
                  <a:srgbClr val="5A6B7A"/>
                </a:solidFill>
                <a:latin typeface="Calibri" pitchFamily="34" charset="0"/>
                <a:ea typeface="Calibri" pitchFamily="34" charset="-122"/>
                <a:cs typeface="Calibri" pitchFamily="34" charset="-120"/>
              </a:rPr>
              <a:t>Lint, leak scan, anti-cheating criteria, red-team and a command scan, then a pass audit that quotes the solver's own reasoning trace.</a:t>
            </a:r>
            <a:endParaRPr lang="en-US" sz="1250" dirty="0"/>
          </a:p>
        </p:txBody>
      </p:sp>
      <p:sp>
        <p:nvSpPr>
          <p:cNvPr id="9" name="Shape 7"/>
          <p:cNvSpPr/>
          <p:nvPr/>
        </p:nvSpPr>
        <p:spPr>
          <a:xfrm>
            <a:off x="548640" y="2926080"/>
            <a:ext cx="3886200" cy="1645920"/>
          </a:xfrm>
          <a:prstGeom prst="roundRect">
            <a:avLst>
              <a:gd name="adj" fmla="val 4444"/>
            </a:avLst>
          </a:prstGeom>
          <a:solidFill>
            <a:srgbClr val="F3F7F6"/>
          </a:solidFill>
          <a:ln w="12700">
            <a:solidFill>
              <a:srgbClr val="F3F7F6"/>
            </a:solidFill>
            <a:prstDash val="solid"/>
          </a:ln>
        </p:spPr>
      </p:sp>
      <p:sp>
        <p:nvSpPr>
          <p:cNvPr id="10" name="Text 8"/>
          <p:cNvSpPr txBox="1"/>
          <p:nvPr/>
        </p:nvSpPr>
        <p:spPr>
          <a:xfrm>
            <a:off x="731520" y="3035808"/>
            <a:ext cx="3520440" cy="457200"/>
          </a:xfrm>
          <a:prstGeom prst="rect">
            <a:avLst/>
          </a:prstGeom>
          <a:noFill/>
          <a:ln/>
        </p:spPr>
        <p:txBody>
          <a:bodyPr wrap="square" lIns="0" tIns="0" rIns="0" bIns="0" rtlCol="0" anchor="ctr"/>
          <a:lstStyle/>
          <a:p>
            <a:pPr indent="0" marL="0">
              <a:buNone/>
            </a:pPr>
            <a:r>
              <a:rPr lang="en-US" sz="1500" b="1" dirty="0">
                <a:solidFill>
                  <a:srgbClr val="2A9D8F"/>
                </a:solidFill>
                <a:latin typeface="Calibri" pitchFamily="34" charset="0"/>
                <a:ea typeface="Calibri" pitchFamily="34" charset="-122"/>
                <a:cs typeface="Calibri" pitchFamily="34" charset="-120"/>
              </a:rPr>
              <a:t>Why did four fail and one pass?</a:t>
            </a:r>
            <a:endParaRPr lang="en-US" sz="1500" dirty="0"/>
          </a:p>
        </p:txBody>
      </p:sp>
      <p:sp>
        <p:nvSpPr>
          <p:cNvPr id="11" name="Text 9"/>
          <p:cNvSpPr txBox="1"/>
          <p:nvPr/>
        </p:nvSpPr>
        <p:spPr>
          <a:xfrm>
            <a:off x="731520" y="3493008"/>
            <a:ext cx="3520440" cy="1005840"/>
          </a:xfrm>
          <a:prstGeom prst="rect">
            <a:avLst/>
          </a:prstGeom>
          <a:noFill/>
          <a:ln/>
        </p:spPr>
        <p:txBody>
          <a:bodyPr wrap="square" lIns="0" tIns="0" rIns="0" bIns="0" rtlCol="0" anchor="ctr"/>
          <a:lstStyle/>
          <a:p>
            <a:pPr indent="0" marL="0">
              <a:buNone/>
            </a:pPr>
            <a:r>
              <a:rPr lang="en-US" sz="1250" dirty="0">
                <a:solidFill>
                  <a:srgbClr val="5A6B7A"/>
                </a:solidFill>
                <a:latin typeface="Calibri" pitchFamily="34" charset="0"/>
                <a:ea typeface="Calibri" pitchFamily="34" charset="-122"/>
                <a:cs typeface="Calibri" pitchFamily="34" charset="-120"/>
              </a:rPr>
              <a:t>The pool is bimodal. The main lever that produced in-band results was also the one the rubric rejects.</a:t>
            </a:r>
            <a:endParaRPr lang="en-US" sz="1250" dirty="0"/>
          </a:p>
        </p:txBody>
      </p:sp>
      <p:sp>
        <p:nvSpPr>
          <p:cNvPr id="12" name="Shape 10"/>
          <p:cNvSpPr/>
          <p:nvPr/>
        </p:nvSpPr>
        <p:spPr>
          <a:xfrm>
            <a:off x="4663440" y="2926080"/>
            <a:ext cx="3886200" cy="1645920"/>
          </a:xfrm>
          <a:prstGeom prst="roundRect">
            <a:avLst>
              <a:gd name="adj" fmla="val 4444"/>
            </a:avLst>
          </a:prstGeom>
          <a:solidFill>
            <a:srgbClr val="F3F7F6"/>
          </a:solidFill>
          <a:ln w="12700">
            <a:solidFill>
              <a:srgbClr val="F3F7F6"/>
            </a:solidFill>
            <a:prstDash val="solid"/>
          </a:ln>
        </p:spPr>
      </p:sp>
      <p:sp>
        <p:nvSpPr>
          <p:cNvPr id="13" name="Text 11"/>
          <p:cNvSpPr txBox="1"/>
          <p:nvPr/>
        </p:nvSpPr>
        <p:spPr>
          <a:xfrm>
            <a:off x="4846320" y="3035808"/>
            <a:ext cx="3520440" cy="457200"/>
          </a:xfrm>
          <a:prstGeom prst="rect">
            <a:avLst/>
          </a:prstGeom>
          <a:noFill/>
          <a:ln/>
        </p:spPr>
        <p:txBody>
          <a:bodyPr wrap="square" lIns="0" tIns="0" rIns="0" bIns="0" rtlCol="0" anchor="ctr"/>
          <a:lstStyle/>
          <a:p>
            <a:pPr indent="0" marL="0">
              <a:buNone/>
            </a:pPr>
            <a:r>
              <a:rPr lang="en-US" sz="1500" b="1" dirty="0">
                <a:solidFill>
                  <a:srgbClr val="2A9D8F"/>
                </a:solidFill>
                <a:latin typeface="Calibri" pitchFamily="34" charset="0"/>
                <a:ea typeface="Calibri" pitchFamily="34" charset="-122"/>
                <a:cs typeface="Calibri" pitchFamily="34" charset="-120"/>
              </a:rPr>
              <a:t>Would a stronger author help?</a:t>
            </a:r>
            <a:endParaRPr lang="en-US" sz="1500" dirty="0"/>
          </a:p>
        </p:txBody>
      </p:sp>
      <p:sp>
        <p:nvSpPr>
          <p:cNvPr id="14" name="Text 12"/>
          <p:cNvSpPr txBox="1"/>
          <p:nvPr/>
        </p:nvSpPr>
        <p:spPr>
          <a:xfrm>
            <a:off x="4846320" y="3493008"/>
            <a:ext cx="3520440" cy="1005840"/>
          </a:xfrm>
          <a:prstGeom prst="rect">
            <a:avLst/>
          </a:prstGeom>
          <a:noFill/>
          <a:ln/>
        </p:spPr>
        <p:txBody>
          <a:bodyPr wrap="square" lIns="0" tIns="0" rIns="0" bIns="0" rtlCol="0" anchor="ctr"/>
          <a:lstStyle/>
          <a:p>
            <a:pPr indent="0" marL="0">
              <a:buNone/>
            </a:pPr>
            <a:r>
              <a:rPr lang="en-US" sz="1250" dirty="0">
                <a:solidFill>
                  <a:srgbClr val="5A6B7A"/>
                </a:solidFill>
                <a:latin typeface="Calibri" pitchFamily="34" charset="0"/>
                <a:ea typeface="Calibri" pitchFamily="34" charset="-122"/>
                <a:cs typeface="Calibri" pitchFamily="34" charset="-120"/>
              </a:rPr>
              <a:t>A 2×2 study produced no in-band task at all: the weak author wrote 0 valid tasks of 7, and no cell cleared.</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Generating Terminal-Bench tasks that are learnable</dc:title>
  <dc:subject>PptxGenJS Presentation</dc:subject>
  <dc:creator>harbor-tbench-worktrial</dc:creator>
  <cp:lastModifiedBy>harbor-tbench-worktrial</cp:lastModifiedBy>
  <cp:revision>1</cp:revision>
  <dcterms:created xsi:type="dcterms:W3CDTF">2026-10-14T00:44:55Z</dcterms:created>
  <dcterms:modified xsi:type="dcterms:W3CDTF">2026-10-14T00:44:55Z</dcterms:modified>
</cp:coreProperties>
</file>